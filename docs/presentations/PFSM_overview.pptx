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738429" y="571639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176913" y="33989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765083" y="263642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55719" y="32379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294607" y="515576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29661" y="189059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82157" y="81019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1712" y="30468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58" y="593892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18456" y="291624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5117" y="516512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25795" y="241314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44455" y="316304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178687" y="287715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27227" y="79552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65672" y="579877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93517" y="603334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05377" y="650496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29006" y="455023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23593" y="654605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21612" y="346378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06112" y="329882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40125" y="286487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12312" y="594878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34750" y="70643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96269" y="526217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7177" y="257656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9615" y="42346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46688" y="418487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7835" y="125868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41657" y="21814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67983" y="580103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57200" y="240079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47260" y="612669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837" y="643850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09733" y="577903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44814" y="98809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86004" y="638980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505397" y="388985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351571" y="285885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76012" y="14759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567517" y="416935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285859" y="543418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249053" y="398506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652456" y="538499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3987" y="634932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9092" y="24704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124592" y="198846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441977" y="425065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596587" y="123973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422150" y="124417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862036" y="207600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974575" y="32563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55439" y="23976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216858" y="18058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216403" y="151374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281361" y="655989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50058" y="110141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576568" y="307129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219235" y="372330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iFi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0"/>
            <a:ext cx="4654296" cy="685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6903720" y="0"/>
            <a:ext cx="822960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17830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4EA8DE"/>
                </a:solidFill>
                <a:latin typeface="Calibri"/>
              </a:rPr>
              <a:t>PiFinder </a:t>
            </a:r>
            <a:r>
              <a:rPr sz="1800" b="1" i="0">
                <a:solidFill>
                  <a:srgbClr val="9AA6C2"/>
                </a:solidFill>
                <a:latin typeface="Calibri"/>
              </a:rPr>
              <a:t>on </a:t>
            </a:r>
            <a:r>
              <a:rPr sz="1800" b="1" i="0">
                <a:solidFill>
                  <a:srgbClr val="FFB703"/>
                </a:solidFill>
                <a:latin typeface="Calibri"/>
              </a:rPr>
              <a:t>StellarMate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" y="2286000"/>
            <a:ext cx="6126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Plate-solving push-to,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on a full imaging rig.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416052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9AA6C2"/>
                </a:solidFill>
                <a:latin typeface="Calibri"/>
              </a:rPr>
              <a:t>One Raspberry Pi. PiFinder answers “where am I pointing”, StellarMate drives everything else — joined over INDI.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98932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github.com/apos/PiFinder_Stellarmate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63093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Community project — not affiliated with PiFinder or StellarMate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this deck covers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011680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03911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Project summary &amp; focus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44368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971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PFSM Control Center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877056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90448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PF LX200 &amp; PF Mount Bridge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809744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8371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PF Simulator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Then two takeaways —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PiFinder</a:t>
            </a:r>
            <a:r>
              <a:rPr sz="2100" b="0" i="0">
                <a:solidFill>
                  <a:srgbClr val="5C677B"/>
                </a:solidFill>
                <a:latin typeface="Calibri"/>
              </a:rPr>
              <a:t>: where to send PRs.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StellarMate</a:t>
            </a:r>
            <a:r>
              <a:rPr sz="2100" b="0" i="0">
                <a:solidFill>
                  <a:srgbClr val="5C677B"/>
                </a:solidFill>
                <a:latin typeface="Calibri"/>
              </a:rPr>
              <a:t>: how the SMOS app could drive PFSM.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FOR DUMMIES · 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Two problems, one telescope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194560"/>
            <a:ext cx="457200" cy="45720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0B1026"/>
                </a:solidFill>
                <a:latin typeface="Calibri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28600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Where am I
pointing?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47548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A Dobson or push-to EQ has no encoders — the software has no idea where the tube looks.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75120" y="2194560"/>
            <a:ext cx="457200" cy="457200"/>
          </a:xfrm>
          <a:prstGeom prst="ellipse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8600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Drive the
whole rig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383280"/>
            <a:ext cx="47548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Camera, mount, guiding, focus — all need one coordinated control layer: INDI, KStars/Ekos, an app.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For dummies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FOR DUMMIES · 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Each project owns one half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4EA8DE"/>
                </a:solidFill>
                <a:latin typeface="Calibri"/>
              </a:rPr>
              <a:t>PiFinder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7548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Global-shutter camera + plate-solver.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Live sky position + push-to arrows.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Python, open hardware &amp; software.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74519"/>
            <a:ext cx="5486400" cy="3840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148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B703"/>
                </a:solidFill>
                <a:latin typeface="Calibri"/>
              </a:rPr>
              <a:t>StellarMate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880360"/>
            <a:ext cx="47548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INDI — the device-driver standard.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KStars / Ekos — capture &amp; automation.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The StellarMate phone/tablet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For dummies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60513" y="502084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368693" y="500841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2826" y="320267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71233" y="606840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67960" y="585472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17362" y="39158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0950" y="282429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57591" y="517845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17311" y="61073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495573" y="97130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24868" y="17213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579354" y="12291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84918" y="646722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78198" y="425676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51124" y="468412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7939" y="251511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89352" y="187401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28569" y="410784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39664" y="479627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31044" y="552602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6656" y="135364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34966" y="51243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49376" y="249177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2477" y="532337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22447" y="567557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94024" y="132827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555572" y="175731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41287" y="247300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127157" y="318441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056100" y="53858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73712" y="63640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621734" y="351379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078349" y="237534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633846" y="219423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6692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FOR DUMMIES · 3 /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PFSM is the wiring. INDI is the connector.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2377440"/>
            <a:ext cx="3291840" cy="251460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50976" y="2688336"/>
            <a:ext cx="164592" cy="164592"/>
          </a:xfrm>
          <a:prstGeom prst="ellipse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43584" y="257860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PiFinder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" y="320040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exposes its solved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position as an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INDI telescope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53712" y="2377440"/>
            <a:ext cx="3291840" cy="251460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864608" y="2688336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57216" y="257860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Mount Bridge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4608" y="320040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couples that 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any INDI mount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(optional)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24" y="2377440"/>
            <a:ext cx="3291840" cy="251460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503920" y="2688336"/>
            <a:ext cx="164592" cy="164592"/>
          </a:xfrm>
          <a:prstGeom prst="ellipse">
            <a:avLst/>
          </a:prstGeom>
          <a:solidFill>
            <a:srgbClr val="8CD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528" y="257860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Your rig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3200400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KStars / Ekos, the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mount, the app —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2"/>
                </a:solidFill>
                <a:latin typeface="Calibri"/>
              </a:rPr>
              <a:t>unchanged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4261104" y="3246120"/>
            <a:ext cx="384048" cy="502920"/>
          </a:xfrm>
          <a:prstGeom prst="rightArrow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ight Arrow 51"/>
          <p:cNvSpPr/>
          <p:nvPr/>
        </p:nvSpPr>
        <p:spPr>
          <a:xfrm>
            <a:off x="7900416" y="3246120"/>
            <a:ext cx="384048" cy="502920"/>
          </a:xfrm>
          <a:prstGeom prst="rightArrow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5257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9AA6C2"/>
                </a:solidFill>
                <a:latin typeface="Calibri"/>
              </a:rPr>
              <a:t>PiFinder is patched in place, never forked. The mount side is generic INDI.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6C2"/>
                </a:solidFill>
                <a:latin typeface="Calibri"/>
              </a:rPr>
              <a:t>For dummies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804867" y="314128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37281" y="552432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7167" y="410542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35035" y="317334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30902" y="91857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11823" y="397709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2229" y="646931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58272" y="358322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25939" y="580528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53369" y="286963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959946" y="558160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62901" y="147081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409732" y="420811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77012" y="482459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7784" y="361496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36313" y="480093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858" y="562003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44127" y="180087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72097" y="242873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74306" y="73004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95129" y="95507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67528" y="7645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14326" y="375776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35541" y="264825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31019" y="507155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41197" y="526422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845741" y="588246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93172" y="170255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866848" y="268015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43124" y="454826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26250" y="231496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69858" y="3692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00525" y="572653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267163" y="313940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095940" y="133473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48438" y="406708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60277" y="587362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66982" y="241221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51208" y="506414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45868" y="266548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078035" y="29598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30166" y="54825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70401" y="503400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073121" y="189447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ONE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Project summary &amp; focus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PFSM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A setup script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installs &amp; patches PiFinder onto StellarMate OS.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diffs/*.diff patches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applied to a stock checkout via patch(1).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Three INDI drivers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LX200, Mount Bridge, Simulator.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A web Control Center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stdlib-only, port 8765.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PFSM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a fork of PiFinder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patches re-applied every update, kept minimal.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a fork of StellarMate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stock INDI, Web Manager, KStars.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a replacement for the INDI Control Panel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it stays for advanced work.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C6453A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Not PiFinder-version-specific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talks only to the stable /api/*.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THE KEY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Why INDI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1B2A4A"/>
                </a:solidFill>
                <a:latin typeface="Calibri"/>
              </a:rPr>
              <a:t>Both sides already speak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PiFinder exposes its position as an INDI telescope.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The Mount Bridge couples that to any INDI mount — no per-mount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TESTED AGAINST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Versions &amp;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PiFinder 2.6.3   ·   StellarMate OS 2.3.0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Pi 4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fully tested.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Pi 5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fully tested.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UTM x86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install + Control Center + Mount Bridge vs. the Simulator (no real solving).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677B"/>
                </a:solidFill>
                <a:latin typeface="Calibri"/>
              </a:rPr>
              <a:t>Pinned to a fixed release tag, not the upstream </a:t>
            </a:r>
            <a:r>
              <a:rPr sz="1600" b="1" i="0">
                <a:solidFill>
                  <a:srgbClr val="182030"/>
                </a:solidFill>
                <a:latin typeface="Calibri"/>
              </a:rPr>
              <a:t>release</a:t>
            </a:r>
            <a:r>
              <a:rPr sz="1600" b="0" i="0">
                <a:solidFill>
                  <a:srgbClr val="5C677B"/>
                </a:solidFill>
                <a:latin typeface="Calibri"/>
              </a:rPr>
              <a:t> branch. The README table is the single source of truth.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1 ·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69055" y="316090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5554" y="163599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34581" y="384167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8431" y="168718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416673" y="566064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0169" y="216615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68999" y="353675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58667" y="427525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21843" y="42345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69182" y="132168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28792" y="451970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56696" y="252743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4388" y="650901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53221" y="432436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54398" y="615574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17629" y="313933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68036" y="537678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40497" y="18931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1787" y="456068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63622" y="289215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12242" y="67036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38300" y="274824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75063" y="25345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322713" y="288682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95172" y="370049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61584" y="412103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453178" y="394539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64578" y="519494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47655" y="247602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38122" y="114794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022711" y="32190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59751" y="164139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12606" y="538990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501331" y="299380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48349" y="64623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28537" y="9960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97025" y="77670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81698" y="20289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974189" y="92580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496386" y="658743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38400" y="451446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816528" y="591133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163318" y="164697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57606" y="455120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TWO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PFSM Control Center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99971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9AA6C2"/>
                </a:solidFill>
                <a:latin typeface="Calibri"/>
              </a:rPr>
              <a:t>Install, mode-switching, hardware checks and the Mount Bridge — one web page, no SSH.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Why a Control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67665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Watch an install from a phone at the scope.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Switch Fake Mode ⟷ the real service.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Check camera / IMU / GPS are really detected.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Reboot the Pi without SSH.</a:t>
            </a:r>
          </a:p>
        </p:txBody>
      </p:sp>
      <p:pic>
        <p:nvPicPr>
          <p:cNvPr id="7" name="Picture 6" descr="cc_full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822960"/>
            <a:ext cx="3383280" cy="4271391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Stdlib only — by necessity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6949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It bootstraps the very venv that PiFinder needs, so it can’t depend on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6949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http.server on :8765, polled every 1–2 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HTTP Basic auth against the system account (PAM).</a:t>
            </a:r>
          </a:p>
        </p:txBody>
      </p:sp>
      <p:pic>
        <p:nvPicPr>
          <p:cNvPr id="8" name="Picture 7" descr="cc_full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822960"/>
            <a:ext cx="3383280" cy="4271391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STATUS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Traffic-light badges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212848"/>
            <a:ext cx="310896" cy="310896"/>
          </a:xfrm>
          <a:prstGeom prst="ellipse">
            <a:avLst/>
          </a:prstGeom>
          <a:solidFill>
            <a:srgbClr val="C4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White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not applicable yet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26079"/>
            <a:ext cx="310896" cy="31089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286207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Green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verified functional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39312"/>
            <a:ext cx="310896" cy="310896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357530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Yellow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degraded / estimate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352544"/>
            <a:ext cx="310896" cy="310896"/>
          </a:xfrm>
          <a:prstGeom prst="ellipse">
            <a:avLst/>
          </a:prstGeom>
          <a:solidFill>
            <a:srgbClr val="C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428853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82030"/>
                </a:solidFill>
                <a:latin typeface="Calibri"/>
              </a:rPr>
              <a:t>Red  </a:t>
            </a:r>
            <a:r>
              <a:rPr sz="2500" b="0" i="0">
                <a:solidFill>
                  <a:srgbClr val="5C677B"/>
                </a:solidFill>
                <a:latin typeface="Calibri"/>
              </a:rPr>
              <a:t>broken or wrong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235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5C677B"/>
                </a:solidFill>
                <a:latin typeface="Calibri"/>
              </a:rPr>
              <a:t>The rule: verify real state, never “the process is alive”.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OPERATING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Coupling, without the INDI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6035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Quick Actions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Sync from PiFinder, Goto Held Target, Stop.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Coupling presets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one click sets every INDI property.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Settings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one-time setup, collapsed away.</a:t>
            </a:r>
          </a:p>
        </p:txBody>
      </p:sp>
      <p:pic>
        <p:nvPicPr>
          <p:cNvPr id="7" name="Picture 6" descr="cc_mount_bridge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572000" cy="3546054"/>
          </a:xfrm>
          <a:prstGeom prst="rect">
            <a:avLst/>
          </a:prstGeom>
          <a:ln w="12700">
            <a:solidFill>
              <a:srgbClr val="D8E0EC"/>
            </a:solidFill>
          </a:ln>
          <a:effectLst>
            <a:outerShdw blurRad="90000" dist="34000" dir="5400000" rotWithShape="0">
              <a:srgbClr val="0B1026">
                <a:alpha val="2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2 · Control Center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13964" y="143371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40832" y="233950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952580" y="460390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524083" y="237178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55919" y="108227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529540" y="551319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635393" y="501022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45885" y="134275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2537" y="585036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04796" y="429737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46056" y="48359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063057" y="176456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57567" y="408141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54077" y="665303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94828" y="140051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55365" y="135569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95049" y="417622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61658" y="487286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35773" y="137679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84423" y="622835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05931" y="378870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97269" y="51947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122269" y="188760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753087" y="638994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98589" y="653961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10040" y="623037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417442" y="126243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13232" y="92350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029252" y="602769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52125" y="564061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204001" y="525223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316136" y="369631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78912" y="481824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511999" y="215851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115062" y="350048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808881" y="430191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66781" y="81198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77704" y="614547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49130" y="107095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155995" y="274637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303854" y="617295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18763" y="602152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367987" y="396733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345864" y="441446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THREE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PF LX200 &amp; PF Mount Bridge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99971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9AA6C2"/>
                </a:solidFill>
                <a:latin typeface="Calibri"/>
              </a:rPr>
              <a:t>PiFinder as a telescope, plus a generic bridge to any INDI mount.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THE INDI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Three building blocks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066544"/>
            <a:ext cx="292608" cy="292608"/>
          </a:xfrm>
          <a:prstGeom prst="ellipse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197510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PiFinder LX200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19" y="2487168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INDI telescope. Reports the solved position; a GoTo becomes a push-to. Required.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547872"/>
            <a:ext cx="292608" cy="29260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34564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PiFinder Mount 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3968496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Optional. Snoops PiFinder + the mount, couples them. Speaks only generic INDI.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029200"/>
            <a:ext cx="292608" cy="292608"/>
          </a:xfrm>
          <a:prstGeom prst="ellipse">
            <a:avLst/>
          </a:prstGeom>
          <a:solidFill>
            <a:srgbClr val="8CD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4937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Your mount’s driver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5449824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Not ours — whatever your mount already uses. Only for a motorised mount.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3 · LX200 &amp; Mount Bridge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THE TELESCOPE DRIVER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PiFinder LX200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Talks LX200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to PiFinder’s pos_server.py on TCP 4030.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Reports the freshly solved position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every poll. A GoTo = a push-to target; nothing moves.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No Sync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PiFinder measures the truth every frame. Nothing to correct.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3 · LX200 &amp; Mount Bridge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ONE PROPERTY, FOUR POSITIONS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The Coupling Dial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5C6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103120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103120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No coupling. Pure push-to.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218688"/>
            <a:ext cx="274320" cy="274320"/>
          </a:xfrm>
          <a:prstGeom prst="ellipse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Verify / Alert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127248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Warn on drift. Never touches the mount.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242816"/>
            <a:ext cx="274320" cy="27432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144" y="4151376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Auto-correct on drift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4151376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Past the threshold: Sync the mount to PiFinder.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66944"/>
            <a:ext cx="274320" cy="274320"/>
          </a:xfrm>
          <a:prstGeom prst="ellipse">
            <a:avLst/>
          </a:prstGeom>
          <a:solidFill>
            <a:srgbClr val="8CD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144" y="5175504"/>
            <a:ext cx="4297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82030"/>
                </a:solidFill>
                <a:latin typeface="Calibri"/>
              </a:rPr>
              <a:t>Goto-Forward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175504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5C677B"/>
                </a:solidFill>
                <a:latin typeface="Calibri"/>
              </a:rPr>
              <a:t>New target → real Goto, then settle &amp; refine.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3 · Auto-correct action: Sync (any mount) or Goto/Track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WORKS WITH ANY 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Generic INDI, nothing mount-specific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182030"/>
                </a:solidFill>
                <a:latin typeface="Calibri"/>
              </a:rPr>
              <a:t>Only </a:t>
            </a:r>
            <a:r>
              <a:rPr sz="2600" b="1" i="0">
                <a:solidFill>
                  <a:srgbClr val="1B2A4A"/>
                </a:solidFill>
                <a:latin typeface="Calibri"/>
              </a:rPr>
              <a:t>EQUATORIAL_EOD_COORD</a:t>
            </a:r>
            <a:r>
              <a:rPr sz="2600" b="0" i="0">
                <a:solidFill>
                  <a:srgbClr val="182030"/>
                </a:solidFill>
                <a:latin typeface="Calibri"/>
              </a:rPr>
              <a:t> + </a:t>
            </a:r>
            <a:r>
              <a:rPr sz="2600" b="1" i="0">
                <a:solidFill>
                  <a:srgbClr val="1B2A4A"/>
                </a:solidFill>
                <a:latin typeface="Calibri"/>
              </a:rPr>
              <a:t>ON_COORD_SET</a:t>
            </a:r>
            <a:r>
              <a:rPr sz="2600" b="0" i="0">
                <a:solidFill>
                  <a:srgbClr val="182030"/>
                </a:solidFill>
                <a:latin typeface="Calibri"/>
              </a:rPr>
              <a:t> — never a mount command.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Multi-Point Alignment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(#191) — automated multi-star run.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Reposition detection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adopt an unexplained move, or revert.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Shadow Sync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mirror commands onto a non-driving device.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3 · LX200 &amp; Mount Bridge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77564" y="398076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94039" y="12988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50056" y="231309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50165" y="291636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95611" y="587893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284298" y="9959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45006" y="579633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13293" y="164704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21263" y="530818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02528" y="44029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58677" y="443019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53370" y="109490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28790" y="258865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948166" y="19547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65260" y="54982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13889" y="384678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934890" y="667799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59929" y="149474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99622" y="625374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96209" y="541909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944581" y="399111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08173" y="533222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13487" y="274596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05667" y="520730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30073" y="268192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220318" y="192154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56497" y="268994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57696" y="491325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73844" y="480686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1987" y="268938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31939" y="582625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33038" y="356952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41440" y="217117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50902" y="107867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35708" y="197089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614162" y="440870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529273" y="183839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891253" y="642433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43585" y="514161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26283" y="44963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921459" y="6028759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985863" y="38293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82241" y="201369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64379" y="18051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PART FOUR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PF Simulator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46320"/>
            <a:ext cx="99971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9AA6C2"/>
                </a:solidFill>
                <a:latin typeface="Calibri"/>
              </a:rPr>
              <a:t>Test the Mount Bridge with no real mount and no clear sky.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HARDWARE-FREE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A mount side and a PiFinder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486400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Mount 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17520"/>
            <a:ext cx="4754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C677B"/>
                </a:solidFill>
                <a:latin typeface="Calibri"/>
              </a:rPr>
              <a:t>The stock INDI Telescope Simulator — Sync it or GoTo it like a real mount.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486400" cy="35661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82030"/>
                </a:solidFill>
                <a:latin typeface="Calibri"/>
              </a:rPr>
              <a:t>PiFinder 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017520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Simulator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holds a settable RA/Dec.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Truth Injector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POSTs it to /api/fake_solve every ~2 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4 · Simulator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BEHAVIOUR &amp;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Simulator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Sync == Goto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no motion to model; the RA/Dec just becomes the held value.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Inject every cycle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keeps PiFinder’s solve timestamp fresh.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FOLLOW_MOUNT_DEVICE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(#239) — optionally dead-reckon along a mount’s slews.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82030"/>
                </a:solidFill>
                <a:latin typeface="Calibri"/>
              </a:rPr>
              <a:t>Next (v3.x): </a:t>
            </a:r>
            <a:r>
              <a:rPr sz="1800" b="0" i="0">
                <a:solidFill>
                  <a:srgbClr val="5C677B"/>
                </a:solidFill>
                <a:latin typeface="Calibri"/>
              </a:rPr>
              <a:t>render a GSC star field and run PiFinder’s real solver on it — issue #344.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Part 4 · Simulator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27928" y="169193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995779" y="488386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98368" y="62338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36783" y="551990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67863" y="202785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3279" y="236223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39430" y="443092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78983" y="54514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84085" y="342647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87750" y="400092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95360" y="51071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60" y="423478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66430" y="80856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16976" y="307170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6530" y="264343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05143" y="433364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14677" y="38448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62587" y="348216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07058" y="404489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7315" y="140847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18306" y="639315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06047" y="297423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231629" y="151993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0856" y="33917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465423" y="291409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23740" y="174778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04866" y="446488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106271" y="300284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300198" y="8458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86118" y="348787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91607" y="313674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80561" y="98669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45055" y="284027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626712" y="294584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45337" y="472196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9962" y="461243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721871" y="578519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933630" y="531886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87097" y="147093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489561" y="199911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256631" y="651429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773984" y="577852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800633" y="64849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057228" y="314974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TAKEAWAY ONE · FOR PIFINDER DEVS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Where PFSM could send PRs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DOCS/UPSTREAM_PATCH_INVENTORY.MD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Patches that aren’t PFSM-specific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1155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Test Mode toggle + status readback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a reliable API trigger (keypress sim was flaky).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Camera-process resilience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fall back to the debug camera instead of crashing.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all_ips()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show every network address, not just the default route.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LX200 “no position yet”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return None, not a parseable fake coordinate.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100" b="1" i="0">
                <a:solidFill>
                  <a:srgbClr val="182030"/>
                </a:solidFill>
                <a:latin typeface="Calibri"/>
              </a:rPr>
              <a:t>Near-pole /api/fake_solve RA </a:t>
            </a:r>
            <a:r>
              <a:rPr sz="2100" b="0" i="0">
                <a:solidFill>
                  <a:srgbClr val="182030"/>
                </a:solidFill>
                <a:latin typeface="Calibri"/>
              </a:rPr>
              <a:t>— filed as brickbots/PiFinder#645.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677B"/>
                </a:solidFill>
                <a:latin typeface="Calibri"/>
              </a:rPr>
              <a:t>Ready-to-file PR text: docs/upstream_pr_templates.md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1 · PiFinder PRs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CONCRETELY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How to help — PiFinder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Pick one from the inventory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each is already triaged.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PR text is written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in docs/upstream_pr_templates.md, in dependency order.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1" i="0">
                <a:solidFill>
                  <a:srgbClr val="182030"/>
                </a:solidFill>
                <a:latin typeface="Calibri"/>
              </a:rPr>
              <a:t>Mind the caveats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— debug_solve needs an upstream regression fixed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1 · PiFinder PRs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09900" y="120940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221634" y="579012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88292" y="177919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87288" y="56669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08501" y="51993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018073" y="489312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05289" y="6355779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14362" y="26340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95058" y="357721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6483" y="337403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96994" y="553468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00106" y="137437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51807" y="287923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8390" y="209108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620433" y="6205481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47510" y="490103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68732" y="603825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358383" y="262716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72792" y="88118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0559" y="106545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22892" y="428155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92" y="638140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59817" y="380872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647555" y="606799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834068" y="507199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984351" y="352582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50159" y="515024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6083" y="55606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782357" y="1365557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85896" y="225411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804532" y="534350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819267" y="6151370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58020" y="584905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646362" y="308198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85628" y="78243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613418" y="541803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082739" y="1020153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670274" y="206304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957028" y="524757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751537" y="241895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36703" y="2226324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54275" y="517106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589668" y="247242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17922" y="382208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1920240"/>
            <a:ext cx="2743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FFB703"/>
                </a:solidFill>
                <a:latin typeface="Calibri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346704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TAKEAWAY TWO · FOR STELLARMATE DEVS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3712463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Extending the SMOS app for PFSM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BASIC USAGE IN THE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What a thin integration needs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Start / stop the selected INDI profile.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Add / remove just the PiFinder drivers.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Pick “the mount” from the loaded drivers.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25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2500" b="0" i="0">
                <a:solidFill>
                  <a:srgbClr val="182030"/>
                </a:solidFill>
                <a:latin typeface="Calibri"/>
              </a:rPr>
              <a:t>Three Coupling presets, in PiFinder’s words.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C677B"/>
                </a:solidFill>
                <a:latin typeface="Calibri"/>
              </a:rPr>
              <a:t>The coupling logic is already framework-agnostic Python — a thin adapter ports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2 · SMOS app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566928"/>
            <a:ext cx="155448" cy="15544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530352"/>
            <a:ext cx="106189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8DE"/>
                </a:solidFill>
                <a:latin typeface="Calibri"/>
              </a:rPr>
              <a:t>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82030"/>
                </a:solidFill>
                <a:latin typeface="Calibri"/>
              </a:rPr>
              <a:t>CC feature → app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Status badges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212080" y="2340864"/>
            <a:ext cx="457200" cy="384048"/>
          </a:xfrm>
          <a:prstGeom prst="rightArrow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228600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5C677B"/>
                </a:solidFill>
                <a:latin typeface="Calibri"/>
              </a:rPr>
              <a:t>a read-only status 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Coupling presets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212080" y="3392424"/>
            <a:ext cx="457200" cy="384048"/>
          </a:xfrm>
          <a:prstGeom prst="rightArrow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33375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5C677B"/>
                </a:solidFill>
                <a:latin typeface="Calibri"/>
              </a:rPr>
              <a:t>a segmented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82030"/>
                </a:solidFill>
                <a:latin typeface="Calibri"/>
              </a:rPr>
              <a:t>Quick Actions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212080" y="4443983"/>
            <a:ext cx="457200" cy="384048"/>
          </a:xfrm>
          <a:prstGeom prst="rightArrow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438912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5C677B"/>
                </a:solidFill>
                <a:latin typeface="Calibri"/>
              </a:rPr>
              <a:t>buttons on that 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C677B"/>
                </a:solidFill>
                <a:latin typeface="Calibri"/>
              </a:rPr>
              <a:t>APIs already exist: /api/mount_bridge_* , or the INDI properties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677B"/>
                </a:solidFill>
                <a:latin typeface="Calibri"/>
              </a:rPr>
              <a:t>Takeaway 2 · SMOS app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654992" y="259492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55519" y="4591964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29002" y="605126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17849" y="630202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4530" y="263250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13564" y="640002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0060" y="170415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15325" y="587632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1858" y="4669633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11017" y="618726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172283" y="491497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38571" y="522358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62910" y="2386538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14476" y="597293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0105" y="2631165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95377" y="16957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39195" y="87483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83335" y="516948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806827" y="147399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773122" y="1013996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105421" y="39094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112184" y="290301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27256" y="5173001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46855" y="127320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13323" y="408408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2026" y="412937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017389" y="498855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030274" y="93599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32325" y="6102909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20195" y="420460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15276" y="3574228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68656" y="70822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47665" y="5942046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15471" y="2784920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023938" y="2632007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54546" y="2991662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79312" y="1912365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797623" y="2012764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481559" y="304326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761034" y="3411425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406292" y="3863697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202128" y="1657682"/>
            <a:ext cx="27432" cy="27432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13558" y="6430112"/>
            <a:ext cx="41148" cy="4114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38961" y="4531801"/>
            <a:ext cx="18288" cy="18288"/>
          </a:xfrm>
          <a:prstGeom prst="ellipse">
            <a:avLst/>
          </a:prstGeom>
          <a:solidFill>
            <a:srgbClr val="3A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008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Roadmap &amp; where to jump 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1783080"/>
            <a:ext cx="5486400" cy="393192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20574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4EA8DE"/>
                </a:solidFill>
                <a:latin typeface="Calibri"/>
              </a:rPr>
              <a:t>v2.x — consolidate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2697480"/>
            <a:ext cx="47548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Harden &amp; test what exists.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Send selected patches upstream.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4EA8DE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A guiding watcher.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09360" y="1783080"/>
            <a:ext cx="5486400" cy="3931920"/>
          </a:xfrm>
          <a:prstGeom prst="roundRect">
            <a:avLst>
              <a:gd name="adj" fmla="val 4500"/>
            </a:avLst>
          </a:prstGeom>
          <a:solidFill>
            <a:srgbClr val="162040"/>
          </a:solidFill>
          <a:ln w="12700">
            <a:solidFill>
              <a:srgbClr val="2C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20840" y="20574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B703"/>
                </a:solidFill>
                <a:latin typeface="Calibri"/>
              </a:rPr>
              <a:t>v3.x — integrate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840" y="269748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Deeper SMOS integration (#35, #36).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PFSM actions in the PiFinder app (#43).</a:t>
            </a:r>
          </a:p>
          <a:p>
            <a:pPr marL="384048" indent="-384048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FFB703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EAEFF8"/>
                </a:solidFill>
                <a:latin typeface="Calibri"/>
              </a:rPr>
              <a:t>A “real” GSC-solving simulator (#344).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4EA8DE"/>
                </a:solidFill>
                <a:latin typeface="Calibri"/>
              </a:rPr>
              <a:t>github.com/apos/PiFinder_Stellarmate</a:t>
            </a:r>
            <a:r>
              <a:rPr sz="1400" b="0" i="0">
                <a:solidFill>
                  <a:srgbClr val="9AA6C2"/>
                </a:solidFill>
                <a:latin typeface="Calibri"/>
              </a:rPr>
              <a:t>   ·   GitHub Project #15   ·   CHANGELOG.md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