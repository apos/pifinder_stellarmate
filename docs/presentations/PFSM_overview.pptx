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Fi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0925" y="0"/>
            <a:ext cx="1335354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7863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Plate-solving push-to,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on a full imaging rig.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040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EAEFF8"/>
                </a:solidFill>
                <a:latin typeface="Calibri"/>
              </a:rPr>
              <a:t>One Raspberry Pi. PiFinder answers “where am I pointing”, StellarMate drives everything else — joined over INDI.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3655" y="5989320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github.com/apos/PiFinder_Stellarmate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5015" y="63093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2CBDB"/>
                </a:solidFill>
                <a:latin typeface="Calibri"/>
              </a:rPr>
              <a:t>Community project — not affiliated with PiFinder or StellarMate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74519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92807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Project summary &amp; focus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15768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3405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PFSM Control Center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57015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575303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 LX200 &amp; PF Mount Bridge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98264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4165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Then two takeaways —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PiFinder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: where to send PRs.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StellarMate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: how the SMOS app could drive PFSM.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Two problems, one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0B1026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Where am I
pointing?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A Dobson or push-to EQ has no encoders — the software has no idea where the tube looks.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2194560"/>
            <a:ext cx="457200" cy="457200"/>
          </a:xfrm>
          <a:prstGeom prst="ellipse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Drive the
whole rig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Camera, mount, guiding, focus — all need one coordinated control layer: INDI, KStars/Ekos, an 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Each project owns one 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4EA8DE"/>
                </a:solidFill>
                <a:latin typeface="Calibri"/>
              </a:rPr>
              <a:t>PiFinder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Global-shutter camera + plate-solver.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Live sky position + push-to arrows.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Python, open hardware &amp;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B703"/>
                </a:solidFill>
                <a:latin typeface="Calibri"/>
              </a:rPr>
              <a:t>StellarMate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88036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INDI — the device-driver standard.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KStars / Ekos — capture &amp; automation.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The StellarMate phone/tablet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60513" y="502084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8693" y="500841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2826" y="32026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71233" y="606840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7960" y="58547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7362" y="39158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0950" y="282429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7591" y="517845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17311" y="61073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5573" y="9713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24868" y="17213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9354" y="12291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4918" y="646722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78198" y="42567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1124" y="468412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7939" y="251511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89352" y="18740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28569" y="410784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39664" y="479627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31044" y="552602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6656" y="135364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34966" y="51243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49376" y="249177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477" y="532337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22447" y="567557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024" y="132827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55572" y="175731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1287" y="24730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27157" y="318441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56100" y="53858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3712" y="63640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21734" y="351379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78349" y="237534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33846" y="219423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3 /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PFSM is the wiring. INDI is the connector.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0976" y="2688336"/>
            <a:ext cx="164592" cy="164592"/>
          </a:xfrm>
          <a:prstGeom prst="ellipse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43584" y="25786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PiFinder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320040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exposes its solved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position as 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INDI telescope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64608" y="2688336"/>
            <a:ext cx="164592" cy="16459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57216" y="25786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Mount Bridge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320040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couples that 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any INDI mount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(optional)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24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503920" y="2688336"/>
            <a:ext cx="164592" cy="164592"/>
          </a:xfrm>
          <a:prstGeom prst="ellipse">
            <a:avLst/>
          </a:prstGeom>
          <a:solidFill>
            <a:srgbClr val="8CD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528" y="25786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Your rig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20040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KStars / Ekos, the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mount, the app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unchanged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261104" y="3246120"/>
            <a:ext cx="384048" cy="502920"/>
          </a:xfrm>
          <a:prstGeom prst="rightArrow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7900416" y="3246120"/>
            <a:ext cx="384048" cy="502920"/>
          </a:xfrm>
          <a:prstGeom prst="rightArrow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C2"/>
                </a:solidFill>
                <a:latin typeface="Calibri"/>
              </a:rPr>
              <a:t>PiFinder is patched in place, never forked. The mount side is generic INDI.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C2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04867" y="314128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37281" y="55243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7167" y="410542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35035" y="317334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30902" y="9185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1823" y="39770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229" y="646931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58272" y="358322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25939" y="580528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53369" y="286963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59946" y="558160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2901" y="147081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09732" y="420811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77012" y="482459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67784" y="361496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6313" y="480093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858" y="562003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4127" y="180087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2097" y="242873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4306" y="73004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5129" y="95507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7528" y="7645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14326" y="375776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35541" y="264825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31019" y="50715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41197" y="526422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45741" y="588246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93172" y="17025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66848" y="268015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3124" y="454826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26250" y="23149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69858" y="3692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00525" y="572653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67163" y="3139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95940" y="13347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8438" y="40670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60277" y="58736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66982" y="241221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51208" y="506414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45868" y="266548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78035" y="29598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30166" y="54825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70401" y="503400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73121" y="18944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Project summary &amp;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PFSM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A setup script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installs &amp; patches PiFinder onto StellarMate OS.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diffs/*.diff patches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applied to a stock checkout via patch(1).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Three INDI drivers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LX200, Mount Bridge, Simulator.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A web Control Center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stdlib-only, port 8765.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PFSM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fork of PiFinder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patches re-applied every update, kept minimal.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fork of StellarMate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stock INDI, Web Manager, KStars.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replacement for the INDI Control Panel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it stays for advanced work.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PiFinder-version-specific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talks only to the stable /api/*.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KEY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Why 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B2A4A"/>
                </a:solidFill>
                <a:latin typeface="Calibri"/>
              </a:rPr>
              <a:t>Both sides already speak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PiFinder exposes its position as an INDI telescope.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The Mount Bridge couples that to any INDI mount — no per-mount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TESTED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Versions &amp;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PiFinder 2.6.3   ·   StellarMate OS 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 4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fully tested.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 5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fully tested.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UTM x86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install + Control Center + Mount Bridge vs. the Simulator (no real solving).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Pinned to a fixed release tag, not the upstream </a:t>
            </a:r>
            <a:r>
              <a:rPr sz="1600" b="1" i="0">
                <a:solidFill>
                  <a:srgbClr val="182030"/>
                </a:solidFill>
                <a:latin typeface="Calibri"/>
              </a:rPr>
              <a:t>release</a:t>
            </a:r>
            <a:r>
              <a:rPr sz="1600" b="0" i="0">
                <a:solidFill>
                  <a:srgbClr val="5C677B"/>
                </a:solidFill>
                <a:latin typeface="Calibri"/>
              </a:rPr>
              <a:t> branch. The README table is the single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69055" y="316090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5554" y="163599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34581" y="384167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8431" y="168718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6673" y="566064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0169" y="216615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68999" y="353675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8667" y="427525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21843" y="42345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69182" y="132168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28792" y="451970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56696" y="252743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388" y="650901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53221" y="432436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4398" y="615574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17629" y="313933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8036" y="537678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40497" y="18931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1787" y="45606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3622" y="289215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12242" y="67036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8300" y="274824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75063" y="25345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22713" y="28868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95172" y="370049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1584" y="412103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53178" y="394539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64578" y="519494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47655" y="24760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38122" y="11479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22711" y="32190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59751" y="164139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12606" y="53899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01331" y="299380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8349" y="64623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28537" y="9960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97025" y="7767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81698" y="20289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74189" y="92580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496386" y="658743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38400" y="451446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16528" y="591133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63318" y="164697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7606" y="455120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TWO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PFSM Control Center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Install, mode-switching, hardware checks and the Mount Bridge — one web page, no SSH.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Why a Control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Watch an install from a phone at the scope.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Switch Fake Mode ⟷ the real service.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Check camera / IMU / GPS are really detected.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Reboot the Pi without SSH.</a:t>
            </a:r>
          </a:p>
        </p:txBody>
      </p:sp>
      <p:pic>
        <p:nvPicPr>
          <p:cNvPr id="7" name="Picture 6" descr="cc_fu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225456"/>
            <a:ext cx="5074920" cy="6407086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Stdlib only — by necessity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It bootstraps the very venv that PiFinder needs, so it can’t depend on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http.server on :8765, polled every 1–2 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HTTP Basic auth against the system account (PAM).</a:t>
            </a:r>
          </a:p>
        </p:txBody>
      </p:sp>
      <p:pic>
        <p:nvPicPr>
          <p:cNvPr id="8" name="Picture 7" descr="cc_fu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225456"/>
            <a:ext cx="5074920" cy="6407086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STATUS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Traffic-light badges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12848"/>
            <a:ext cx="310896" cy="310896"/>
          </a:xfrm>
          <a:prstGeom prst="ellipse">
            <a:avLst/>
          </a:prstGeom>
          <a:solidFill>
            <a:srgbClr val="C4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White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not applicable yet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79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28620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Green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verified functional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9312"/>
            <a:ext cx="310896" cy="310896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575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Yellow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degraded / estimate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52544"/>
            <a:ext cx="310896" cy="310896"/>
          </a:xfrm>
          <a:prstGeom prst="ellipse">
            <a:avLst/>
          </a:prstGeom>
          <a:solidFill>
            <a:srgbClr val="C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428853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Red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broken or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5C677B"/>
                </a:solidFill>
                <a:latin typeface="Calibri"/>
              </a:rPr>
              <a:t>The rule: verify real state, never “the process is alive”.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OPERATING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Coupling, without the INDI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Quick Actions — one-shots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Coupling presets — one click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Settings — set once, hidden</a:t>
            </a:r>
          </a:p>
        </p:txBody>
      </p:sp>
      <p:pic>
        <p:nvPicPr>
          <p:cNvPr id="7" name="Picture 6" descr="cc_mount_bridge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88" y="1920240"/>
            <a:ext cx="6307406" cy="4892040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13964" y="14337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40832" y="233950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52580" y="460390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524083" y="23717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55919" y="108227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9540" y="551319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35393" y="50102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5885" y="134275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2537" y="585036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4796" y="42973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46056" y="48359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3057" y="176456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57567" y="408141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54077" y="665303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828" y="140051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5365" y="135569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95049" y="41762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61658" y="487286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5773" y="137679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84423" y="62283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05931" y="37887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7269" y="51947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22269" y="18876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53087" y="638994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98589" y="653961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10040" y="623037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17442" y="126243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13232" y="92350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29252" y="602769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52125" y="564061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4001" y="525223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16136" y="369631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78912" y="481824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11999" y="215851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5062" y="350048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08881" y="430191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66781" y="81198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77704" y="614547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9130" y="107095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55995" y="274637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03854" y="617295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18763" y="602152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67987" y="39673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45864" y="441446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THREE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 LX200 &amp; PF Mount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PiFinder as a telescope, plus a generic bridge to any INDI mount.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INDI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Three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6231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PiFinder LX200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9514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INDI telescope. Reports the solved position; a GoTo becomes a push-to.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PiFinder Mount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1927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Optional. Snoops PiFinder + the mount and couples them. Generic INDI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448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Your mount’s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Not ours — whatever your mount already uses. Only for a motorised mount.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The Mount Bridge status row — the three, wired together: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5285232"/>
            <a:ext cx="12191695" cy="1572768"/>
          </a:xfrm>
          <a:prstGeom prst="roundRect">
            <a:avLst>
              <a:gd name="adj" fmla="val 4500"/>
            </a:avLst>
          </a:prstGeom>
          <a:solidFill>
            <a:srgbClr val="0B1026"/>
          </a:solidFill>
          <a:ln w="12700">
            <a:solidFill>
              <a:srgbClr val="0B1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dge_mb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5486400"/>
            <a:ext cx="9692640" cy="11798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TELESCOPE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PiFinder LX200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1338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Talks LX200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to PiFinder’s pos_server.py (TCP 4030).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Reports the solved position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each poll; a GoTo is only a push-to.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No Sync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PiFinder measures the truth every frame.</a:t>
            </a:r>
          </a:p>
        </p:txBody>
      </p:sp>
      <p:pic>
        <p:nvPicPr>
          <p:cNvPr id="7" name="Picture 6" descr="lx200_o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3200400"/>
            <a:ext cx="10332720" cy="3077451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3 · INDI Control Panel — On Set: Track / Slew, no Sync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ONE PROPERTY, FOUR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The Coupling Dial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pure push-to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Verify / Alert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3989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warn only, hands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Auto-correct 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9145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Sync past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7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79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Goto-Forward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4301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real slew, then refine</a:t>
            </a:r>
          </a:p>
        </p:txBody>
      </p:sp>
      <p:pic>
        <p:nvPicPr>
          <p:cNvPr id="18" name="Picture 17" descr="c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2194560"/>
            <a:ext cx="7452360" cy="3446574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4739335" y="5751263"/>
            <a:ext cx="7452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The dial in the Control Center — </a:t>
            </a:r>
            <a:r>
              <a:rPr sz="1500" b="1" i="0">
                <a:solidFill>
                  <a:srgbClr val="182030"/>
                </a:solidFill>
                <a:latin typeface="Calibri"/>
              </a:rPr>
              <a:t>Decouple + the three presets.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3 · Auto-correct → Sync (any mount); Goto-Forward → Goto / Track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WORKS WITH ANY 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Generic INDI, nothing mount-specific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82030"/>
                </a:solidFill>
                <a:latin typeface="Calibri"/>
              </a:rPr>
              <a:t>Only </a:t>
            </a:r>
            <a:r>
              <a:rPr sz="2300" b="1" i="0">
                <a:solidFill>
                  <a:srgbClr val="1B2A4A"/>
                </a:solidFill>
                <a:latin typeface="Calibri"/>
              </a:rPr>
              <a:t>EQUATORIAL_EOD_COORD</a:t>
            </a:r>
            <a:r>
              <a:rPr sz="2300" b="0" i="0">
                <a:solidFill>
                  <a:srgbClr val="182030"/>
                </a:solidFill>
                <a:latin typeface="Calibri"/>
              </a:rPr>
              <a:t> + </a:t>
            </a:r>
            <a:r>
              <a:rPr sz="2300" b="1" i="0">
                <a:solidFill>
                  <a:srgbClr val="1B2A4A"/>
                </a:solidFill>
                <a:latin typeface="Calibri"/>
              </a:rPr>
              <a:t>ON_COORD_SET</a:t>
            </a:r>
            <a:r>
              <a:rPr sz="2300" b="0" i="0">
                <a:solidFill>
                  <a:srgbClr val="182030"/>
                </a:solidFill>
                <a:latin typeface="Calibri"/>
              </a:rPr>
              <a:t> — never a mount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Multi-Point Alignment (#191)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    ·  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Reposition detection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    ·  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Shadow Sync</a:t>
            </a:r>
          </a:p>
        </p:txBody>
      </p:sp>
      <p:pic>
        <p:nvPicPr>
          <p:cNvPr id="8" name="Picture 7" descr="kstars_both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999232"/>
            <a:ext cx="8229600" cy="3606310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3 · PiFinder + the mount, co-located on the KStars sky map — right-click either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7564" y="39807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94039" y="1298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50056" y="231309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50165" y="291636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95611" y="587893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84298" y="9959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5006" y="57963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13293" y="164704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21263" y="530818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2528" y="44029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58677" y="44301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53370" y="109490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8790" y="25886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8166" y="19547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5260" y="54982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13889" y="38467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34890" y="667799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9929" y="14947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99622" y="625374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96209" y="54190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581" y="399111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08173" y="533222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3487" y="274596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05667" y="520730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30073" y="26819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0318" y="192154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56497" y="268994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57696" y="491325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73844" y="480686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1987" y="268938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1939" y="582625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038" y="356952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41440" y="217117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50902" y="10786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35708" y="197089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14162" y="44087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529273" y="18383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891253" y="64243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3585" y="514161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26283" y="44963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921459" y="602875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85863" y="38293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82241" y="201369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64379" y="18051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FOUR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 Simulator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Test the Mount Bridge with no real mount and no clear sky.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HARDWARE-FREE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A mount side and a PiFinder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783080"/>
            <a:ext cx="571500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Mount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Stock INDI Telescope Simulator — Sync or GoTo like a real mount.</a:t>
            </a:r>
          </a:p>
        </p:txBody>
      </p:sp>
      <p:pic>
        <p:nvPicPr>
          <p:cNvPr id="9" name="Picture 8" descr="sim_moun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3566160"/>
            <a:ext cx="5166360" cy="2260282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172200" y="1783080"/>
            <a:ext cx="571500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PiFinder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4203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Simulator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holds a settable RA/Dec.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Truth Injector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POSTs to /api/fake_solve.</a:t>
            </a:r>
          </a:p>
        </p:txBody>
      </p:sp>
      <p:pic>
        <p:nvPicPr>
          <p:cNvPr id="13" name="Picture 12" descr="sim_p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66160"/>
            <a:ext cx="5166360" cy="2441105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4 · Simulator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BEHAVIOUR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Simulator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Sync == Goto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no motion to model; the RA/Dec just becomes the held value.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Inject every cycle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keeps PiFinder’s solve timestamp fresh.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FOLLOW_MOUNT_DEVICE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(#239) — optionally dead-reckon along a mount’s slews.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2030"/>
                </a:solidFill>
                <a:latin typeface="Calibri"/>
              </a:rPr>
              <a:t>Next (v3.x): </a:t>
            </a:r>
            <a:r>
              <a:rPr sz="1800" b="0" i="0">
                <a:solidFill>
                  <a:srgbClr val="5C677B"/>
                </a:solidFill>
                <a:latin typeface="Calibri"/>
              </a:rPr>
              <a:t>render a GSC star field and run PiFinder’s real solver on it — issue #344.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4 · Simulator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27928" y="169193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95779" y="48838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98368" y="6233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36783" y="55199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67863" y="202785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3279" y="23622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39430" y="443092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8983" y="54514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84085" y="342647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87750" y="40009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95360" y="51071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60" y="423478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6430" y="8085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16976" y="307170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6530" y="264343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05143" y="433364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4677" y="38448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2587" y="348216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07058" y="40448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7315" y="140847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8306" y="63931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06047" y="297423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31629" y="151993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0856" y="33917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65423" y="291409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23740" y="174778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04866" y="446488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06271" y="30028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00198" y="8458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86118" y="348787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91607" y="31367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80561" y="98669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45055" y="28402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26712" y="2945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45337" y="47219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962" y="461243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21871" y="578519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33630" y="53188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87097" y="14709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89561" y="199911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56631" y="651429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73984" y="57785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00633" y="64849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57228" y="314974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TAKEAWAY ONE · FOR PIFINDER DEVS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Where PFSM could send PRs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DOCS/UPSTREAM_PATCH_INVENTORY.MD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Patches that aren’t PFSM-specific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155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Test Mode toggle + status readback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a reliable API trigger (keypress sim was flaky).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Camera-process resilience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fall back to the debug camera instead of crashing.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all_ips()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show every network address, not just the default route.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LX200 “no position yet”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return None, not a parseable fake coordinate.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Near-pole /api/fake_solve RA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filed as brickbots/PiFinder#645.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Ready-to-file PR text: docs/upstream_pr_templates.md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1 · PiFinder PRs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CONCRETELY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How to help — PiFinder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Pick one from the inventory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each is already triaged.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PR text is written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in docs/upstream_pr_templates.md, in dependency order.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Mind the caveats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debug_solve needs an upstream regression fixed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1 · PiFinder PRs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9900" y="12094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21634" y="579012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88292" y="17791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87288" y="5666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08501" y="51993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18073" y="489312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5289" y="635577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14362" y="26340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95058" y="357721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6483" y="337403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6994" y="55346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0106" y="137437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51807" y="28792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8390" y="209108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20433" y="620548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47510" y="490103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68732" y="603825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8383" y="26271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72792" y="8811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0559" y="106545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22892" y="42815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92" y="6381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59817" y="380872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47555" y="60679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34068" y="507199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84351" y="35258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50159" y="515024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6083" y="55606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82357" y="136555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85896" y="22541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04532" y="534350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19267" y="61513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8020" y="584905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46362" y="308198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5628" y="78243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13418" y="541803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82739" y="102015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70274" y="20630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957028" y="52475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51537" y="241895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6703" y="22263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54275" y="51710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89668" y="24724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17922" y="382208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TAKEAWAY TWO · FOR STELLARMATE DEVS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Extending the SMOS app for PFSM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BASIC USAGE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a thin integration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Start / stop the selected INDI profile.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Add / remove just the PiFinder drivers.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Pick “the mount” from the loaded drivers.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Three Coupling presets, in PiFinder’s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The coupling logic is already framework-agnostic Python — a thin adapter ports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2 · SMOS 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CC feature → app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Status badges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946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a read-only status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Coupling presets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6674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a segmented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Quick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6402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buttons on that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APIs: /api/mount_bridge_*, or INDI.</a:t>
            </a:r>
          </a:p>
        </p:txBody>
      </p:sp>
      <p:pic>
        <p:nvPicPr>
          <p:cNvPr id="16" name="Picture 15" descr="c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2148840"/>
            <a:ext cx="7452360" cy="3446574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4739335" y="5705543"/>
            <a:ext cx="7452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Where each maps from, in the Control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2 · SMOS app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54992" y="259492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55519" y="459196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9002" y="605126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7849" y="630202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4530" y="26325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13564" y="640002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0060" y="17041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15325" y="587632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1858" y="466963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11017" y="618726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72283" y="491497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38571" y="522358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62910" y="238653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14476" y="597293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105" y="26311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95377" y="16957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39195" y="8748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3335" y="516948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06827" y="14739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73122" y="10139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05421" y="39094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12184" y="290301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27256" y="517300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6855" y="127320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13323" y="408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2026" y="41293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17389" y="498855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030274" y="9359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2325" y="610290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20195" y="42046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5276" y="35742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68656" y="70822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47665" y="59420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15471" y="27849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23938" y="26320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54546" y="299166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79312" y="191236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797623" y="20127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81559" y="30432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61034" y="34114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06292" y="38636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02128" y="165768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13558" y="643011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38961" y="453180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00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Roadmap &amp; where to jump 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178308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EA8DE"/>
                </a:solidFill>
                <a:latin typeface="Calibri"/>
              </a:rPr>
              <a:t>v2.x — consolidate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69748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Harden &amp; test what exists.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Send selected patches upstream.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A guiding watcher.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178308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703"/>
                </a:solidFill>
                <a:latin typeface="Calibri"/>
              </a:rPr>
              <a:t>v3.x — integrate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69748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Deeper SMOS integration (#35, #36).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PFSM actions in the PiFinder app (#43).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A “real” GSC-solving simulator (#344).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github.com/apos/PiFinder_Stellarmate</a:t>
            </a:r>
            <a:r>
              <a:rPr sz="1400" b="0" i="0">
                <a:solidFill>
                  <a:srgbClr val="9AA6C2"/>
                </a:solidFill>
                <a:latin typeface="Calibri"/>
              </a:rPr>
              <a:t>   ·   GitHub Project #15   ·   CHANGELOG.md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3484" y="8771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15784" y="4220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15483" y="48215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3795" y="501339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59" y="16591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73175" y="28533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6803" y="2712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7339" y="149292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5747" y="642531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65034" y="28781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60510" y="641629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73835" y="14792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9087" y="497646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97167" y="157476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34678" y="14131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5373" y="33111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41517" y="23383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79237" y="442154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93612" y="65656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50069" y="215382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09532" y="62992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3743" y="127994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13266" y="409651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42366" y="454541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83082" y="441214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95680" y="147101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36538" y="53311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46151" y="189956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59132" y="141509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71938" y="665594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06094" y="34168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50208" y="25889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79714" y="402604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2123" y="53863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94952" y="65440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73159" y="51769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92683" y="2108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81266" y="307244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711974" y="38712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2887" y="41792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39041" y="63696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51925" y="378776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18955" y="35895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20778" y="35872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60800" y="216808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21700" y="258348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469867" y="504099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61673" y="395400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7780" y="453547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00537" y="106302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53938" y="148567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95357" y="400372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iFinder-Stellarmate_Wortmarke_Negativ_fuer-dunklen-h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7" y="1965960"/>
            <a:ext cx="6217920" cy="117158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40080" y="3611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9AA6C2"/>
                </a:solidFill>
                <a:latin typeface="Calibri"/>
              </a:rPr>
              <a:t>© github.com/apos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Unofficial community project — not affiliated with StellarMate or PiFinder.</a:t>
            </a:r>
          </a:p>
        </p:txBody>
      </p:sp>
      <p:pic>
        <p:nvPicPr>
          <p:cNvPr id="58" name="Picture 57" descr="HeyApos_Wortmarke_logo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27" y="5074920"/>
            <a:ext cx="1869439" cy="1051559"/>
          </a:xfrm>
          <a:prstGeom prst="rect">
            <a:avLst/>
          </a:prstGeom>
        </p:spPr>
      </p:pic>
      <p:pic>
        <p:nvPicPr>
          <p:cNvPr id="59" name="Picture 58" descr="avvp_2019_logo_wortmarke_n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5230368"/>
            <a:ext cx="2103120" cy="5225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youtube.com/heyapos   ·   avvp.de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