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58"/>
  </p:normalViewPr>
  <p:slideViewPr>
    <p:cSldViewPr snapToGrid="0" snapToObjects="1">
      <p:cViewPr varScale="1">
        <p:scale>
          <a:sx n="120" d="100"/>
          <a:sy n="120" d="100"/>
        </p:scale>
        <p:origin x="800" y="18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heme" Target="theme/theme1.xml"/><Relationship Id="rId8" Type="http://schemas.openxmlformats.org/officeDocument/2006/relationships/slide" Target="slides/slide7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9/10/26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9/10/26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9/10/26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9/10/26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2B28A7A1-5F3F-7F0C-856F-3DB32976E01C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10599738" y="6687820"/>
            <a:ext cx="1546225" cy="10668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de-DE" sz="700">
                <a:solidFill>
                  <a:srgbClr val="000000">
                    <a:alpha val="50000"/>
                  </a:srgbClr>
                </a:solidFill>
                <a:latin typeface="Aptos" panose="020B0004020202020204" pitchFamily="34" charset="0"/>
              </a:rPr>
              <a:t>Klassifizierung: Vertraulich/Confidential</a:t>
            </a:r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0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PiFinder.jpg"/>
          <p:cNvPicPr>
            <a:picLocks noChangeAspect="1"/>
          </p:cNvPicPr>
          <p:nvPr/>
        </p:nvPicPr>
        <p:blipFill>
          <a:blip r:embed="rId2"/>
          <a:srcRect r="4352"/>
          <a:stretch>
            <a:fillRect/>
          </a:stretch>
        </p:blipFill>
        <p:spPr>
          <a:xfrm>
            <a:off x="-580773" y="0"/>
            <a:ext cx="12772468" cy="6858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11414455" y="0"/>
            <a:ext cx="777240" cy="6858000"/>
          </a:xfrm>
          <a:prstGeom prst="rect">
            <a:avLst/>
          </a:prstGeom>
          <a:solidFill>
            <a:srgbClr val="0B10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40080" y="640080"/>
            <a:ext cx="7863840" cy="2103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4200" b="1" i="0">
                <a:solidFill>
                  <a:srgbClr val="FFFFFF"/>
                </a:solidFill>
                <a:latin typeface="Calibri"/>
              </a:rPr>
              <a:t>Plate-solving push-to,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4200" b="1" i="0">
                <a:solidFill>
                  <a:srgbClr val="FFFFFF"/>
                </a:solidFill>
                <a:latin typeface="Calibri"/>
              </a:rPr>
              <a:t>on a full imaging rig.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514600"/>
            <a:ext cx="7040880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0" i="0">
                <a:solidFill>
                  <a:srgbClr val="EAEFF8"/>
                </a:solidFill>
                <a:latin typeface="Calibri"/>
              </a:rPr>
              <a:t>One Raspberry Pi. PiFinder answers “where am I pointing”, StellarMate drives everything else — joined over INDI.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13655" y="5989320"/>
            <a:ext cx="621792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4EA8DE"/>
                </a:solidFill>
                <a:latin typeface="Calibri"/>
              </a:rPr>
              <a:t>github.com/apos/PiFinder_Stellarmate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65015" y="6309360"/>
            <a:ext cx="67665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C2CBDB"/>
                </a:solidFill>
                <a:latin typeface="Calibri"/>
              </a:rPr>
              <a:t>Community project — not affiliated with PiFinder or StellarMate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640080" y="566928"/>
            <a:ext cx="155448" cy="155448"/>
          </a:xfrm>
          <a:prstGeom prst="ellipse">
            <a:avLst/>
          </a:prstGeom>
          <a:solidFill>
            <a:srgbClr val="FFB7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32688" y="530352"/>
            <a:ext cx="10618927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4EA8DE"/>
                </a:solidFill>
                <a:latin typeface="Calibri"/>
              </a:rPr>
              <a:t>AGENDA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96112"/>
            <a:ext cx="10911535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4000" b="1" i="0">
                <a:solidFill>
                  <a:srgbClr val="182030"/>
                </a:solidFill>
                <a:latin typeface="Calibri"/>
              </a:rPr>
              <a:t>What this deck covers</a:t>
            </a:r>
          </a:p>
        </p:txBody>
      </p:sp>
      <p:sp>
        <p:nvSpPr>
          <p:cNvPr id="6" name="Oval 5"/>
          <p:cNvSpPr/>
          <p:nvPr/>
        </p:nvSpPr>
        <p:spPr>
          <a:xfrm>
            <a:off x="640080" y="1874519"/>
            <a:ext cx="530352" cy="530352"/>
          </a:xfrm>
          <a:prstGeom prst="ellipse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23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81328" y="1892807"/>
            <a:ext cx="10058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 i="0">
                <a:solidFill>
                  <a:srgbClr val="182030"/>
                </a:solidFill>
                <a:latin typeface="Calibri"/>
              </a:rPr>
              <a:t>Project summary &amp; focus</a:t>
            </a:r>
          </a:p>
        </p:txBody>
      </p:sp>
      <p:sp>
        <p:nvSpPr>
          <p:cNvPr id="8" name="Oval 7"/>
          <p:cNvSpPr/>
          <p:nvPr/>
        </p:nvSpPr>
        <p:spPr>
          <a:xfrm>
            <a:off x="640080" y="2715768"/>
            <a:ext cx="530352" cy="530352"/>
          </a:xfrm>
          <a:prstGeom prst="ellipse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23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81328" y="2734056"/>
            <a:ext cx="10058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 i="0">
                <a:solidFill>
                  <a:srgbClr val="182030"/>
                </a:solidFill>
                <a:latin typeface="Calibri"/>
              </a:rPr>
              <a:t>PFSM Control Center</a:t>
            </a:r>
          </a:p>
        </p:txBody>
      </p:sp>
      <p:sp>
        <p:nvSpPr>
          <p:cNvPr id="10" name="Oval 9"/>
          <p:cNvSpPr/>
          <p:nvPr/>
        </p:nvSpPr>
        <p:spPr>
          <a:xfrm>
            <a:off x="640080" y="3557015"/>
            <a:ext cx="530352" cy="530352"/>
          </a:xfrm>
          <a:prstGeom prst="ellipse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23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81328" y="3575303"/>
            <a:ext cx="10058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 i="0">
                <a:solidFill>
                  <a:srgbClr val="182030"/>
                </a:solidFill>
                <a:latin typeface="Calibri"/>
              </a:rPr>
              <a:t>PF LX200 &amp; PF Mount Bridge</a:t>
            </a:r>
          </a:p>
        </p:txBody>
      </p:sp>
      <p:sp>
        <p:nvSpPr>
          <p:cNvPr id="12" name="Oval 11"/>
          <p:cNvSpPr/>
          <p:nvPr/>
        </p:nvSpPr>
        <p:spPr>
          <a:xfrm>
            <a:off x="640080" y="4398264"/>
            <a:ext cx="530352" cy="530352"/>
          </a:xfrm>
          <a:prstGeom prst="ellipse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23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81328" y="4416552"/>
            <a:ext cx="10058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 i="0">
                <a:solidFill>
                  <a:srgbClr val="182030"/>
                </a:solidFill>
                <a:latin typeface="Calibri"/>
              </a:rPr>
              <a:t>PF Simulator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532120"/>
            <a:ext cx="10911535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400"/>
              </a:spcAft>
            </a:pPr>
            <a:r>
              <a:rPr sz="2100" b="0" i="0">
                <a:solidFill>
                  <a:srgbClr val="5C677B"/>
                </a:solidFill>
                <a:latin typeface="Calibri"/>
              </a:rPr>
              <a:t>Then two takeaways — </a:t>
            </a:r>
            <a:r>
              <a:rPr sz="2100" b="1" i="0">
                <a:solidFill>
                  <a:srgbClr val="182030"/>
                </a:solidFill>
                <a:latin typeface="Calibri"/>
              </a:rPr>
              <a:t>PiFinder</a:t>
            </a:r>
            <a:r>
              <a:rPr sz="2100" b="0" i="0">
                <a:solidFill>
                  <a:srgbClr val="5C677B"/>
                </a:solidFill>
                <a:latin typeface="Calibri"/>
              </a:rPr>
              <a:t>: where to send PRs.  </a:t>
            </a:r>
            <a:r>
              <a:rPr sz="2100" b="1" i="0">
                <a:solidFill>
                  <a:srgbClr val="182030"/>
                </a:solidFill>
                <a:latin typeface="Calibri"/>
              </a:rPr>
              <a:t>StellarMate</a:t>
            </a:r>
            <a:r>
              <a:rPr sz="2100" b="0" i="0">
                <a:solidFill>
                  <a:srgbClr val="5C677B"/>
                </a:solidFill>
                <a:latin typeface="Calibri"/>
              </a:rPr>
              <a:t>: how the SMOS app could drive PFSM.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640080" y="566928"/>
            <a:ext cx="155448" cy="155448"/>
          </a:xfrm>
          <a:prstGeom prst="ellipse">
            <a:avLst/>
          </a:prstGeom>
          <a:solidFill>
            <a:srgbClr val="FFB7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32688" y="530352"/>
            <a:ext cx="10618927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4EA8DE"/>
                </a:solidFill>
                <a:latin typeface="Calibri"/>
              </a:rPr>
              <a:t>FOR DUMMIES · 1 /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96112"/>
            <a:ext cx="10911535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4000" b="1" i="0">
                <a:solidFill>
                  <a:srgbClr val="182030"/>
                </a:solidFill>
                <a:latin typeface="Calibri"/>
              </a:rPr>
              <a:t>Two problems, one telescope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74519"/>
            <a:ext cx="5486400" cy="384048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1005840" y="2194560"/>
            <a:ext cx="457200" cy="457200"/>
          </a:xfrm>
          <a:prstGeom prst="ellipse">
            <a:avLst/>
          </a:prstGeom>
          <a:solidFill>
            <a:srgbClr val="FFB7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2200" b="1" i="0">
                <a:solidFill>
                  <a:srgbClr val="0B1026"/>
                </a:solidFill>
                <a:latin typeface="Calibri"/>
              </a:rPr>
              <a:t>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45920" y="2286000"/>
            <a:ext cx="42062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 i="0">
                <a:solidFill>
                  <a:srgbClr val="182030"/>
                </a:solidFill>
                <a:latin typeface="Calibri"/>
              </a:rPr>
              <a:t>Where am I
pointing?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3383280"/>
            <a:ext cx="4754880" cy="2103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400"/>
              </a:spcAft>
            </a:pPr>
            <a:r>
              <a:rPr sz="2100" b="0" i="0">
                <a:solidFill>
                  <a:srgbClr val="5C677B"/>
                </a:solidFill>
                <a:latin typeface="Calibri"/>
              </a:rPr>
              <a:t>A Dobson or push-to EQ has no encoders — the software has no idea where the tube looks.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1874519"/>
            <a:ext cx="5486400" cy="384048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6675120" y="2194560"/>
            <a:ext cx="457200" cy="457200"/>
          </a:xfrm>
          <a:prstGeom prst="ellipse">
            <a:avLst/>
          </a:prstGeom>
          <a:solidFill>
            <a:srgbClr val="4EA8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900" b="1" i="0">
                <a:solidFill>
                  <a:srgbClr val="FFFFFF"/>
                </a:solidFill>
                <a:latin typeface="Calibri"/>
              </a:rPr>
              <a:t>★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0" y="2286000"/>
            <a:ext cx="42062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 i="0">
                <a:solidFill>
                  <a:srgbClr val="182030"/>
                </a:solidFill>
                <a:latin typeface="Calibri"/>
              </a:rPr>
              <a:t>Drive the
whole rig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0" y="3383280"/>
            <a:ext cx="4754880" cy="2103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400"/>
              </a:spcAft>
            </a:pPr>
            <a:r>
              <a:rPr sz="2100" b="0" i="0">
                <a:solidFill>
                  <a:srgbClr val="5C677B"/>
                </a:solidFill>
                <a:latin typeface="Calibri"/>
              </a:rPr>
              <a:t>Camera, mount, guiding, focus — all need one coordinated control layer: INDI, KStars/Ekos, an app.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6400800"/>
            <a:ext cx="10911535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5C677B"/>
                </a:solidFill>
                <a:latin typeface="Calibri"/>
              </a:rPr>
              <a:t>For dummies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640080" y="566928"/>
            <a:ext cx="155448" cy="155448"/>
          </a:xfrm>
          <a:prstGeom prst="ellipse">
            <a:avLst/>
          </a:prstGeom>
          <a:solidFill>
            <a:srgbClr val="FFB7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32688" y="530352"/>
            <a:ext cx="10618927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4EA8DE"/>
                </a:solidFill>
                <a:latin typeface="Calibri"/>
              </a:rPr>
              <a:t>FOR DUMMIES · 2 /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96112"/>
            <a:ext cx="10911535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4000" b="1" i="0">
                <a:solidFill>
                  <a:srgbClr val="182030"/>
                </a:solidFill>
                <a:latin typeface="Calibri"/>
              </a:rPr>
              <a:t>Each project owns one half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74519"/>
            <a:ext cx="5486400" cy="384048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51560" y="2148840"/>
            <a:ext cx="45720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 i="0">
                <a:solidFill>
                  <a:srgbClr val="4EA8DE"/>
                </a:solidFill>
                <a:latin typeface="Calibri"/>
              </a:rPr>
              <a:t>PiFinder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2880360"/>
            <a:ext cx="4754880" cy="2743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384048" indent="-384048">
              <a:lnSpc>
                <a:spcPct val="112000"/>
              </a:lnSpc>
              <a:spcBef>
                <a:spcPts val="0"/>
              </a:spcBef>
              <a:spcAft>
                <a:spcPts val="1400"/>
              </a:spcAft>
            </a:pPr>
            <a:r>
              <a:rPr sz="2100" b="1" i="0">
                <a:solidFill>
                  <a:srgbClr val="4EA8DE"/>
                </a:solidFill>
                <a:latin typeface="Calibri"/>
              </a:rPr>
              <a:t>▸  </a:t>
            </a:r>
            <a:r>
              <a:rPr sz="2100" b="0" i="0">
                <a:solidFill>
                  <a:srgbClr val="182030"/>
                </a:solidFill>
                <a:latin typeface="Calibri"/>
              </a:rPr>
              <a:t>Global-shutter camera + plate-solver.</a:t>
            </a:r>
          </a:p>
          <a:p>
            <a:pPr marL="384048" indent="-384048">
              <a:lnSpc>
                <a:spcPct val="112000"/>
              </a:lnSpc>
              <a:spcBef>
                <a:spcPts val="0"/>
              </a:spcBef>
              <a:spcAft>
                <a:spcPts val="1400"/>
              </a:spcAft>
            </a:pPr>
            <a:r>
              <a:rPr sz="2100" b="1" i="0">
                <a:solidFill>
                  <a:srgbClr val="4EA8DE"/>
                </a:solidFill>
                <a:latin typeface="Calibri"/>
              </a:rPr>
              <a:t>▸  </a:t>
            </a:r>
            <a:r>
              <a:rPr sz="2100" b="0" i="0">
                <a:solidFill>
                  <a:srgbClr val="182030"/>
                </a:solidFill>
                <a:latin typeface="Calibri"/>
              </a:rPr>
              <a:t>Live sky position + push-to arrows.</a:t>
            </a:r>
          </a:p>
          <a:p>
            <a:pPr marL="384048" indent="-384048">
              <a:lnSpc>
                <a:spcPct val="112000"/>
              </a:lnSpc>
              <a:spcBef>
                <a:spcPts val="0"/>
              </a:spcBef>
              <a:spcAft>
                <a:spcPts val="1400"/>
              </a:spcAft>
            </a:pPr>
            <a:r>
              <a:rPr sz="2100" b="1" i="0">
                <a:solidFill>
                  <a:srgbClr val="4EA8DE"/>
                </a:solidFill>
                <a:latin typeface="Calibri"/>
              </a:rPr>
              <a:t>▸  </a:t>
            </a:r>
            <a:r>
              <a:rPr sz="2100" b="0" i="0">
                <a:solidFill>
                  <a:srgbClr val="182030"/>
                </a:solidFill>
                <a:latin typeface="Calibri"/>
              </a:rPr>
              <a:t>Python, open hardware &amp; software.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1874519"/>
            <a:ext cx="5486400" cy="384048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720840" y="2148840"/>
            <a:ext cx="45720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 i="0">
                <a:solidFill>
                  <a:srgbClr val="FFB703"/>
                </a:solidFill>
                <a:latin typeface="Calibri"/>
              </a:rPr>
              <a:t>StellarMate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20840" y="2880360"/>
            <a:ext cx="4754880" cy="2743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384048" indent="-384048">
              <a:lnSpc>
                <a:spcPct val="112000"/>
              </a:lnSpc>
              <a:spcBef>
                <a:spcPts val="0"/>
              </a:spcBef>
              <a:spcAft>
                <a:spcPts val="1400"/>
              </a:spcAft>
            </a:pPr>
            <a:r>
              <a:rPr sz="2100" b="1" i="0">
                <a:solidFill>
                  <a:srgbClr val="FFB703"/>
                </a:solidFill>
                <a:latin typeface="Calibri"/>
              </a:rPr>
              <a:t>▸  </a:t>
            </a:r>
            <a:r>
              <a:rPr sz="2100" b="0" i="0">
                <a:solidFill>
                  <a:srgbClr val="182030"/>
                </a:solidFill>
                <a:latin typeface="Calibri"/>
              </a:rPr>
              <a:t>INDI — the device-driver standard.</a:t>
            </a:r>
          </a:p>
          <a:p>
            <a:pPr marL="384048" indent="-384048">
              <a:lnSpc>
                <a:spcPct val="112000"/>
              </a:lnSpc>
              <a:spcBef>
                <a:spcPts val="0"/>
              </a:spcBef>
              <a:spcAft>
                <a:spcPts val="1400"/>
              </a:spcAft>
            </a:pPr>
            <a:r>
              <a:rPr sz="2100" b="1" i="0">
                <a:solidFill>
                  <a:srgbClr val="FFB703"/>
                </a:solidFill>
                <a:latin typeface="Calibri"/>
              </a:rPr>
              <a:t>▸  </a:t>
            </a:r>
            <a:r>
              <a:rPr sz="2100" b="0" i="0">
                <a:solidFill>
                  <a:srgbClr val="182030"/>
                </a:solidFill>
                <a:latin typeface="Calibri"/>
              </a:rPr>
              <a:t>KStars / Ekos — capture &amp; automation.</a:t>
            </a:r>
          </a:p>
          <a:p>
            <a:pPr marL="384048" indent="-384048">
              <a:lnSpc>
                <a:spcPct val="112000"/>
              </a:lnSpc>
              <a:spcBef>
                <a:spcPts val="0"/>
              </a:spcBef>
              <a:spcAft>
                <a:spcPts val="1400"/>
              </a:spcAft>
            </a:pPr>
            <a:r>
              <a:rPr sz="2100" b="1" i="0">
                <a:solidFill>
                  <a:srgbClr val="FFB703"/>
                </a:solidFill>
                <a:latin typeface="Calibri"/>
              </a:rPr>
              <a:t>▸  </a:t>
            </a:r>
            <a:r>
              <a:rPr sz="2100" b="0" i="0">
                <a:solidFill>
                  <a:srgbClr val="182030"/>
                </a:solidFill>
                <a:latin typeface="Calibri"/>
              </a:rPr>
              <a:t>The StellarMate phone/tablet app.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400800"/>
            <a:ext cx="10911535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5C677B"/>
                </a:solidFill>
                <a:latin typeface="Calibri"/>
              </a:rPr>
              <a:t>For dummies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0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7560513" y="5020848"/>
            <a:ext cx="41148" cy="4114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11368693" y="5008415"/>
            <a:ext cx="41148" cy="4114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482826" y="3202670"/>
            <a:ext cx="18288" cy="1828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7871233" y="6068400"/>
            <a:ext cx="18288" cy="1828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4567960" y="5854726"/>
            <a:ext cx="27432" cy="27432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6617362" y="3915805"/>
            <a:ext cx="18288" cy="1828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8850950" y="2824295"/>
            <a:ext cx="18288" cy="1828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11057591" y="5178451"/>
            <a:ext cx="18288" cy="1828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9217311" y="610735"/>
            <a:ext cx="41148" cy="4114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>
            <a:off x="7495573" y="971307"/>
            <a:ext cx="18288" cy="1828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11724868" y="172139"/>
            <a:ext cx="18288" cy="1828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>
            <a:off x="11579354" y="1229105"/>
            <a:ext cx="18288" cy="1828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Oval 14"/>
          <p:cNvSpPr/>
          <p:nvPr/>
        </p:nvSpPr>
        <p:spPr>
          <a:xfrm>
            <a:off x="3584918" y="6467223"/>
            <a:ext cx="41148" cy="4114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Oval 15"/>
          <p:cNvSpPr/>
          <p:nvPr/>
        </p:nvSpPr>
        <p:spPr>
          <a:xfrm>
            <a:off x="10578198" y="4256767"/>
            <a:ext cx="18288" cy="1828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Oval 16"/>
          <p:cNvSpPr/>
          <p:nvPr/>
        </p:nvSpPr>
        <p:spPr>
          <a:xfrm>
            <a:off x="11351124" y="4684125"/>
            <a:ext cx="27432" cy="27432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Oval 17"/>
          <p:cNvSpPr/>
          <p:nvPr/>
        </p:nvSpPr>
        <p:spPr>
          <a:xfrm>
            <a:off x="3697939" y="2515118"/>
            <a:ext cx="18288" cy="1828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Oval 18"/>
          <p:cNvSpPr/>
          <p:nvPr/>
        </p:nvSpPr>
        <p:spPr>
          <a:xfrm>
            <a:off x="11289352" y="1874013"/>
            <a:ext cx="27432" cy="27432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Oval 19"/>
          <p:cNvSpPr/>
          <p:nvPr/>
        </p:nvSpPr>
        <p:spPr>
          <a:xfrm>
            <a:off x="3728569" y="4107843"/>
            <a:ext cx="18288" cy="1828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Oval 20"/>
          <p:cNvSpPr/>
          <p:nvPr/>
        </p:nvSpPr>
        <p:spPr>
          <a:xfrm>
            <a:off x="7239664" y="4796273"/>
            <a:ext cx="18288" cy="1828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Oval 21"/>
          <p:cNvSpPr/>
          <p:nvPr/>
        </p:nvSpPr>
        <p:spPr>
          <a:xfrm>
            <a:off x="3831044" y="5526021"/>
            <a:ext cx="27432" cy="27432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Oval 22"/>
          <p:cNvSpPr/>
          <p:nvPr/>
        </p:nvSpPr>
        <p:spPr>
          <a:xfrm>
            <a:off x="8436656" y="1353647"/>
            <a:ext cx="27432" cy="27432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Oval 23"/>
          <p:cNvSpPr/>
          <p:nvPr/>
        </p:nvSpPr>
        <p:spPr>
          <a:xfrm>
            <a:off x="8534966" y="512435"/>
            <a:ext cx="18288" cy="1828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Oval 24"/>
          <p:cNvSpPr/>
          <p:nvPr/>
        </p:nvSpPr>
        <p:spPr>
          <a:xfrm>
            <a:off x="11449376" y="2491774"/>
            <a:ext cx="27432" cy="27432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Oval 25"/>
          <p:cNvSpPr/>
          <p:nvPr/>
        </p:nvSpPr>
        <p:spPr>
          <a:xfrm>
            <a:off x="352477" y="5323376"/>
            <a:ext cx="27432" cy="27432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Oval 26"/>
          <p:cNvSpPr/>
          <p:nvPr/>
        </p:nvSpPr>
        <p:spPr>
          <a:xfrm>
            <a:off x="4622447" y="5675576"/>
            <a:ext cx="27432" cy="27432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Oval 27"/>
          <p:cNvSpPr/>
          <p:nvPr/>
        </p:nvSpPr>
        <p:spPr>
          <a:xfrm>
            <a:off x="694024" y="1328276"/>
            <a:ext cx="18288" cy="1828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Oval 28"/>
          <p:cNvSpPr/>
          <p:nvPr/>
        </p:nvSpPr>
        <p:spPr>
          <a:xfrm>
            <a:off x="1555572" y="1757316"/>
            <a:ext cx="27432" cy="27432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Oval 29"/>
          <p:cNvSpPr/>
          <p:nvPr/>
        </p:nvSpPr>
        <p:spPr>
          <a:xfrm>
            <a:off x="4241287" y="2473004"/>
            <a:ext cx="41148" cy="4114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Oval 30"/>
          <p:cNvSpPr/>
          <p:nvPr/>
        </p:nvSpPr>
        <p:spPr>
          <a:xfrm>
            <a:off x="3127157" y="3184414"/>
            <a:ext cx="41148" cy="4114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Oval 31"/>
          <p:cNvSpPr/>
          <p:nvPr/>
        </p:nvSpPr>
        <p:spPr>
          <a:xfrm>
            <a:off x="9056100" y="5385845"/>
            <a:ext cx="27432" cy="27432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Oval 32"/>
          <p:cNvSpPr/>
          <p:nvPr/>
        </p:nvSpPr>
        <p:spPr>
          <a:xfrm>
            <a:off x="573712" y="6364005"/>
            <a:ext cx="18288" cy="1828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Oval 33"/>
          <p:cNvSpPr/>
          <p:nvPr/>
        </p:nvSpPr>
        <p:spPr>
          <a:xfrm>
            <a:off x="2621734" y="3513798"/>
            <a:ext cx="27432" cy="27432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Oval 34"/>
          <p:cNvSpPr/>
          <p:nvPr/>
        </p:nvSpPr>
        <p:spPr>
          <a:xfrm>
            <a:off x="11078349" y="2375344"/>
            <a:ext cx="41148" cy="4114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Oval 35"/>
          <p:cNvSpPr/>
          <p:nvPr/>
        </p:nvSpPr>
        <p:spPr>
          <a:xfrm>
            <a:off x="6633846" y="2194233"/>
            <a:ext cx="27432" cy="27432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640080" y="566928"/>
            <a:ext cx="2743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4EA8DE"/>
                </a:solidFill>
                <a:latin typeface="Calibri"/>
              </a:rPr>
              <a:t>FOR DUMMIES · 3 / 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0080" y="914400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3800" b="1" i="0">
                <a:solidFill>
                  <a:srgbClr val="FFFFFF"/>
                </a:solidFill>
                <a:latin typeface="Calibri"/>
              </a:rPr>
              <a:t>PFSM is the wiring. INDI is the connector.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40080" y="2377440"/>
            <a:ext cx="3291840" cy="2514600"/>
          </a:xfrm>
          <a:prstGeom prst="roundRect">
            <a:avLst>
              <a:gd name="adj" fmla="val 4500"/>
            </a:avLst>
          </a:prstGeom>
          <a:solidFill>
            <a:srgbClr val="162040"/>
          </a:solidFill>
          <a:ln w="12700">
            <a:solidFill>
              <a:srgbClr val="2C3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Oval 39"/>
          <p:cNvSpPr/>
          <p:nvPr/>
        </p:nvSpPr>
        <p:spPr>
          <a:xfrm>
            <a:off x="950976" y="2688336"/>
            <a:ext cx="164592" cy="164592"/>
          </a:xfrm>
          <a:prstGeom prst="ellipse">
            <a:avLst/>
          </a:prstGeom>
          <a:solidFill>
            <a:srgbClr val="4EA8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1243584" y="2578608"/>
            <a:ext cx="26517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 i="0">
                <a:solidFill>
                  <a:srgbClr val="FFFFFF"/>
                </a:solidFill>
                <a:latin typeface="Calibri"/>
              </a:rPr>
              <a:t>PiFinder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50976" y="3200400"/>
            <a:ext cx="2834640" cy="1554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 i="0">
                <a:solidFill>
                  <a:srgbClr val="9AA6C2"/>
                </a:solidFill>
                <a:latin typeface="Calibri"/>
              </a:rPr>
              <a:t>exposes its solved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 i="0">
                <a:solidFill>
                  <a:srgbClr val="9AA6C2"/>
                </a:solidFill>
                <a:latin typeface="Calibri"/>
              </a:rPr>
              <a:t>position as an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 i="0">
                <a:solidFill>
                  <a:srgbClr val="9AA6C2"/>
                </a:solidFill>
                <a:latin typeface="Calibri"/>
              </a:rPr>
              <a:t>INDI telescope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4553712" y="2377440"/>
            <a:ext cx="3291840" cy="2514600"/>
          </a:xfrm>
          <a:prstGeom prst="roundRect">
            <a:avLst>
              <a:gd name="adj" fmla="val 4500"/>
            </a:avLst>
          </a:prstGeom>
          <a:solidFill>
            <a:srgbClr val="162040"/>
          </a:solidFill>
          <a:ln w="12700">
            <a:solidFill>
              <a:srgbClr val="2C3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Oval 43"/>
          <p:cNvSpPr/>
          <p:nvPr/>
        </p:nvSpPr>
        <p:spPr>
          <a:xfrm>
            <a:off x="4864608" y="2688336"/>
            <a:ext cx="164592" cy="164592"/>
          </a:xfrm>
          <a:prstGeom prst="ellipse">
            <a:avLst/>
          </a:prstGeom>
          <a:solidFill>
            <a:srgbClr val="FFB7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5157216" y="2578608"/>
            <a:ext cx="26517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 i="0">
                <a:solidFill>
                  <a:srgbClr val="FFFFFF"/>
                </a:solidFill>
                <a:latin typeface="Calibri"/>
              </a:rPr>
              <a:t>Mount Bridge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864608" y="3200400"/>
            <a:ext cx="2834640" cy="1554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 i="0">
                <a:solidFill>
                  <a:srgbClr val="9AA6C2"/>
                </a:solidFill>
                <a:latin typeface="Calibri"/>
              </a:rPr>
              <a:t>couples that to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 i="0">
                <a:solidFill>
                  <a:srgbClr val="9AA6C2"/>
                </a:solidFill>
                <a:latin typeface="Calibri"/>
              </a:rPr>
              <a:t>any INDI mount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 i="0">
                <a:solidFill>
                  <a:srgbClr val="9AA6C2"/>
                </a:solidFill>
                <a:latin typeface="Calibri"/>
              </a:rPr>
              <a:t>(optional)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8193024" y="2377440"/>
            <a:ext cx="3291840" cy="2514600"/>
          </a:xfrm>
          <a:prstGeom prst="roundRect">
            <a:avLst>
              <a:gd name="adj" fmla="val 4500"/>
            </a:avLst>
          </a:prstGeom>
          <a:solidFill>
            <a:srgbClr val="162040"/>
          </a:solidFill>
          <a:ln w="12700">
            <a:solidFill>
              <a:srgbClr val="2C3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Oval 47"/>
          <p:cNvSpPr/>
          <p:nvPr/>
        </p:nvSpPr>
        <p:spPr>
          <a:xfrm>
            <a:off x="8503920" y="2688336"/>
            <a:ext cx="164592" cy="164592"/>
          </a:xfrm>
          <a:prstGeom prst="ellipse">
            <a:avLst/>
          </a:prstGeom>
          <a:solidFill>
            <a:srgbClr val="8CD8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8796528" y="2578608"/>
            <a:ext cx="26517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 i="0">
                <a:solidFill>
                  <a:srgbClr val="FFFFFF"/>
                </a:solidFill>
                <a:latin typeface="Calibri"/>
              </a:rPr>
              <a:t>Your rig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503920" y="3200400"/>
            <a:ext cx="2834640" cy="1554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 i="0">
                <a:solidFill>
                  <a:srgbClr val="9AA6C2"/>
                </a:solidFill>
                <a:latin typeface="Calibri"/>
              </a:rPr>
              <a:t>KStars / Ekos, the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 i="0">
                <a:solidFill>
                  <a:srgbClr val="9AA6C2"/>
                </a:solidFill>
                <a:latin typeface="Calibri"/>
              </a:rPr>
              <a:t>mount, the app —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 i="0">
                <a:solidFill>
                  <a:srgbClr val="9AA6C2"/>
                </a:solidFill>
                <a:latin typeface="Calibri"/>
              </a:rPr>
              <a:t>unchanged</a:t>
            </a:r>
          </a:p>
        </p:txBody>
      </p:sp>
      <p:sp>
        <p:nvSpPr>
          <p:cNvPr id="51" name="Right Arrow 50"/>
          <p:cNvSpPr/>
          <p:nvPr/>
        </p:nvSpPr>
        <p:spPr>
          <a:xfrm>
            <a:off x="4261104" y="3246120"/>
            <a:ext cx="384048" cy="502920"/>
          </a:xfrm>
          <a:prstGeom prst="rightArrow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Right Arrow 51"/>
          <p:cNvSpPr/>
          <p:nvPr/>
        </p:nvSpPr>
        <p:spPr>
          <a:xfrm>
            <a:off x="7900416" y="3246120"/>
            <a:ext cx="384048" cy="502920"/>
          </a:xfrm>
          <a:prstGeom prst="rightArrow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640080" y="5257800"/>
            <a:ext cx="1088136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400"/>
              </a:spcAft>
            </a:pPr>
            <a:r>
              <a:rPr sz="1900" b="0" i="0">
                <a:solidFill>
                  <a:srgbClr val="9AA6C2"/>
                </a:solidFill>
                <a:latin typeface="Calibri"/>
              </a:rPr>
              <a:t>PiFinder is patched in place, never forked. The mount side is generic INDI.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40080" y="6400800"/>
            <a:ext cx="10911535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9AA6C2"/>
                </a:solidFill>
                <a:latin typeface="Calibri"/>
              </a:rPr>
              <a:t>For dummies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0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11804867" y="3141281"/>
            <a:ext cx="41148" cy="4114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8437281" y="5524329"/>
            <a:ext cx="41148" cy="4114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1067167" y="4105428"/>
            <a:ext cx="18288" cy="1828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7935035" y="3173340"/>
            <a:ext cx="27432" cy="27432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10530902" y="918570"/>
            <a:ext cx="18288" cy="1828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1711823" y="3977096"/>
            <a:ext cx="18288" cy="1828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662229" y="6469310"/>
            <a:ext cx="41148" cy="4114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1658272" y="3583222"/>
            <a:ext cx="18288" cy="1828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9025939" y="5805287"/>
            <a:ext cx="41148" cy="4114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>
            <a:off x="8753369" y="2869634"/>
            <a:ext cx="41148" cy="4114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6959946" y="5581601"/>
            <a:ext cx="18288" cy="1828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>
            <a:off x="1162901" y="1470814"/>
            <a:ext cx="18288" cy="1828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Oval 14"/>
          <p:cNvSpPr/>
          <p:nvPr/>
        </p:nvSpPr>
        <p:spPr>
          <a:xfrm>
            <a:off x="11409732" y="4208112"/>
            <a:ext cx="27432" cy="27432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Oval 15"/>
          <p:cNvSpPr/>
          <p:nvPr/>
        </p:nvSpPr>
        <p:spPr>
          <a:xfrm>
            <a:off x="9977012" y="4824594"/>
            <a:ext cx="18288" cy="1828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Oval 16"/>
          <p:cNvSpPr/>
          <p:nvPr/>
        </p:nvSpPr>
        <p:spPr>
          <a:xfrm>
            <a:off x="9167784" y="3614967"/>
            <a:ext cx="27432" cy="27432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Oval 17"/>
          <p:cNvSpPr/>
          <p:nvPr/>
        </p:nvSpPr>
        <p:spPr>
          <a:xfrm>
            <a:off x="6436313" y="4800936"/>
            <a:ext cx="27432" cy="27432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Oval 18"/>
          <p:cNvSpPr/>
          <p:nvPr/>
        </p:nvSpPr>
        <p:spPr>
          <a:xfrm>
            <a:off x="630858" y="5620031"/>
            <a:ext cx="18288" cy="1828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Oval 19"/>
          <p:cNvSpPr/>
          <p:nvPr/>
        </p:nvSpPr>
        <p:spPr>
          <a:xfrm>
            <a:off x="5144127" y="1800878"/>
            <a:ext cx="18288" cy="1828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Oval 20"/>
          <p:cNvSpPr/>
          <p:nvPr/>
        </p:nvSpPr>
        <p:spPr>
          <a:xfrm>
            <a:off x="5872097" y="2428738"/>
            <a:ext cx="41148" cy="4114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Oval 21"/>
          <p:cNvSpPr/>
          <p:nvPr/>
        </p:nvSpPr>
        <p:spPr>
          <a:xfrm>
            <a:off x="8474306" y="730049"/>
            <a:ext cx="27432" cy="27432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Oval 22"/>
          <p:cNvSpPr/>
          <p:nvPr/>
        </p:nvSpPr>
        <p:spPr>
          <a:xfrm>
            <a:off x="8095129" y="955079"/>
            <a:ext cx="41148" cy="4114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Oval 23"/>
          <p:cNvSpPr/>
          <p:nvPr/>
        </p:nvSpPr>
        <p:spPr>
          <a:xfrm>
            <a:off x="9267528" y="764544"/>
            <a:ext cx="27432" cy="27432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Oval 24"/>
          <p:cNvSpPr/>
          <p:nvPr/>
        </p:nvSpPr>
        <p:spPr>
          <a:xfrm>
            <a:off x="3614326" y="3757768"/>
            <a:ext cx="41148" cy="4114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Oval 25"/>
          <p:cNvSpPr/>
          <p:nvPr/>
        </p:nvSpPr>
        <p:spPr>
          <a:xfrm>
            <a:off x="7535541" y="2648259"/>
            <a:ext cx="41148" cy="4114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Oval 26"/>
          <p:cNvSpPr/>
          <p:nvPr/>
        </p:nvSpPr>
        <p:spPr>
          <a:xfrm>
            <a:off x="5431019" y="5071556"/>
            <a:ext cx="18288" cy="1828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Oval 27"/>
          <p:cNvSpPr/>
          <p:nvPr/>
        </p:nvSpPr>
        <p:spPr>
          <a:xfrm>
            <a:off x="2241197" y="5264220"/>
            <a:ext cx="27432" cy="27432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Oval 28"/>
          <p:cNvSpPr/>
          <p:nvPr/>
        </p:nvSpPr>
        <p:spPr>
          <a:xfrm>
            <a:off x="7845741" y="5882462"/>
            <a:ext cx="41148" cy="4114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Oval 29"/>
          <p:cNvSpPr/>
          <p:nvPr/>
        </p:nvSpPr>
        <p:spPr>
          <a:xfrm>
            <a:off x="2993172" y="1702556"/>
            <a:ext cx="18288" cy="1828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Oval 30"/>
          <p:cNvSpPr/>
          <p:nvPr/>
        </p:nvSpPr>
        <p:spPr>
          <a:xfrm>
            <a:off x="2866848" y="2680151"/>
            <a:ext cx="41148" cy="4114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Oval 31"/>
          <p:cNvSpPr/>
          <p:nvPr/>
        </p:nvSpPr>
        <p:spPr>
          <a:xfrm>
            <a:off x="1143124" y="4548264"/>
            <a:ext cx="18288" cy="1828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Oval 32"/>
          <p:cNvSpPr/>
          <p:nvPr/>
        </p:nvSpPr>
        <p:spPr>
          <a:xfrm>
            <a:off x="5826250" y="2314966"/>
            <a:ext cx="41148" cy="4114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Oval 33"/>
          <p:cNvSpPr/>
          <p:nvPr/>
        </p:nvSpPr>
        <p:spPr>
          <a:xfrm>
            <a:off x="1869858" y="369244"/>
            <a:ext cx="27432" cy="27432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Oval 34"/>
          <p:cNvSpPr/>
          <p:nvPr/>
        </p:nvSpPr>
        <p:spPr>
          <a:xfrm>
            <a:off x="8300525" y="5726534"/>
            <a:ext cx="41148" cy="4114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Oval 35"/>
          <p:cNvSpPr/>
          <p:nvPr/>
        </p:nvSpPr>
        <p:spPr>
          <a:xfrm>
            <a:off x="1267163" y="3139408"/>
            <a:ext cx="27432" cy="27432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Oval 36"/>
          <p:cNvSpPr/>
          <p:nvPr/>
        </p:nvSpPr>
        <p:spPr>
          <a:xfrm>
            <a:off x="11095940" y="1334737"/>
            <a:ext cx="27432" cy="27432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Oval 37"/>
          <p:cNvSpPr/>
          <p:nvPr/>
        </p:nvSpPr>
        <p:spPr>
          <a:xfrm>
            <a:off x="6448438" y="4067089"/>
            <a:ext cx="41148" cy="4114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Oval 38"/>
          <p:cNvSpPr/>
          <p:nvPr/>
        </p:nvSpPr>
        <p:spPr>
          <a:xfrm>
            <a:off x="7460277" y="5873629"/>
            <a:ext cx="41148" cy="4114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Oval 39"/>
          <p:cNvSpPr/>
          <p:nvPr/>
        </p:nvSpPr>
        <p:spPr>
          <a:xfrm>
            <a:off x="8266982" y="2412215"/>
            <a:ext cx="27432" cy="27432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Oval 40"/>
          <p:cNvSpPr/>
          <p:nvPr/>
        </p:nvSpPr>
        <p:spPr>
          <a:xfrm>
            <a:off x="7851208" y="5064141"/>
            <a:ext cx="18288" cy="1828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Oval 41"/>
          <p:cNvSpPr/>
          <p:nvPr/>
        </p:nvSpPr>
        <p:spPr>
          <a:xfrm>
            <a:off x="7545868" y="2665486"/>
            <a:ext cx="41148" cy="4114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Oval 42"/>
          <p:cNvSpPr/>
          <p:nvPr/>
        </p:nvSpPr>
        <p:spPr>
          <a:xfrm>
            <a:off x="2078035" y="2959844"/>
            <a:ext cx="27432" cy="27432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Oval 43"/>
          <p:cNvSpPr/>
          <p:nvPr/>
        </p:nvSpPr>
        <p:spPr>
          <a:xfrm>
            <a:off x="9330166" y="5482536"/>
            <a:ext cx="41148" cy="4114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Oval 44"/>
          <p:cNvSpPr/>
          <p:nvPr/>
        </p:nvSpPr>
        <p:spPr>
          <a:xfrm>
            <a:off x="8770401" y="5034002"/>
            <a:ext cx="27432" cy="27432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Oval 45"/>
          <p:cNvSpPr/>
          <p:nvPr/>
        </p:nvSpPr>
        <p:spPr>
          <a:xfrm>
            <a:off x="5073121" y="1894477"/>
            <a:ext cx="18288" cy="1828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640080" y="1920240"/>
            <a:ext cx="2743200" cy="1554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600" b="1" i="0">
                <a:solidFill>
                  <a:srgbClr val="FFB703"/>
                </a:solidFill>
                <a:latin typeface="Calibri"/>
              </a:rPr>
              <a:t>01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40080" y="3346704"/>
            <a:ext cx="10911535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4EA8DE"/>
                </a:solidFill>
                <a:latin typeface="Calibri"/>
              </a:rPr>
              <a:t>PART ONE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40080" y="3712463"/>
            <a:ext cx="10911535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5200" b="1" i="0">
                <a:solidFill>
                  <a:srgbClr val="FFFFFF"/>
                </a:solidFill>
                <a:latin typeface="Calibri"/>
              </a:rPr>
              <a:t>Project summary &amp; focus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640080" y="566928"/>
            <a:ext cx="155448" cy="155448"/>
          </a:xfrm>
          <a:prstGeom prst="ellipse">
            <a:avLst/>
          </a:prstGeom>
          <a:solidFill>
            <a:srgbClr val="FFB7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32688" y="530352"/>
            <a:ext cx="10618927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4EA8DE"/>
                </a:solidFill>
                <a:latin typeface="Calibri"/>
              </a:rPr>
              <a:t>SCOPE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96112"/>
            <a:ext cx="10911535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4000" b="1" i="0">
                <a:solidFill>
                  <a:srgbClr val="182030"/>
                </a:solidFill>
                <a:latin typeface="Calibri"/>
              </a:rPr>
              <a:t>What PFSM 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011680"/>
            <a:ext cx="10972800" cy="4023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384048" indent="-384048">
              <a:lnSpc>
                <a:spcPct val="112000"/>
              </a:lnSpc>
              <a:spcBef>
                <a:spcPts val="0"/>
              </a:spcBef>
              <a:spcAft>
                <a:spcPts val="2000"/>
              </a:spcAft>
            </a:pPr>
            <a:r>
              <a:rPr sz="2500" b="1" i="0">
                <a:solidFill>
                  <a:srgbClr val="4EA8DE"/>
                </a:solidFill>
                <a:latin typeface="Calibri"/>
              </a:rPr>
              <a:t>▸  </a:t>
            </a:r>
            <a:r>
              <a:rPr sz="2500" b="1" i="0">
                <a:solidFill>
                  <a:srgbClr val="182030"/>
                </a:solidFill>
                <a:latin typeface="Calibri"/>
              </a:rPr>
              <a:t>A setup script </a:t>
            </a:r>
            <a:r>
              <a:rPr sz="2500" b="0" i="0">
                <a:solidFill>
                  <a:srgbClr val="182030"/>
                </a:solidFill>
                <a:latin typeface="Calibri"/>
              </a:rPr>
              <a:t>— installs &amp; patches PiFinder onto StellarMate OS.</a:t>
            </a:r>
          </a:p>
          <a:p>
            <a:pPr marL="384048" indent="-384048">
              <a:lnSpc>
                <a:spcPct val="112000"/>
              </a:lnSpc>
              <a:spcBef>
                <a:spcPts val="0"/>
              </a:spcBef>
              <a:spcAft>
                <a:spcPts val="2000"/>
              </a:spcAft>
            </a:pPr>
            <a:r>
              <a:rPr sz="2500" b="1" i="0">
                <a:solidFill>
                  <a:srgbClr val="4EA8DE"/>
                </a:solidFill>
                <a:latin typeface="Calibri"/>
              </a:rPr>
              <a:t>▸  </a:t>
            </a:r>
            <a:r>
              <a:rPr sz="2500" b="1" i="0">
                <a:solidFill>
                  <a:srgbClr val="182030"/>
                </a:solidFill>
                <a:latin typeface="Calibri"/>
              </a:rPr>
              <a:t>diffs/*.diff patches </a:t>
            </a:r>
            <a:r>
              <a:rPr sz="2500" b="0" i="0">
                <a:solidFill>
                  <a:srgbClr val="182030"/>
                </a:solidFill>
                <a:latin typeface="Calibri"/>
              </a:rPr>
              <a:t>— applied to a stock checkout via patch(1).</a:t>
            </a:r>
          </a:p>
          <a:p>
            <a:pPr marL="384048" indent="-384048">
              <a:lnSpc>
                <a:spcPct val="112000"/>
              </a:lnSpc>
              <a:spcBef>
                <a:spcPts val="0"/>
              </a:spcBef>
              <a:spcAft>
                <a:spcPts val="2000"/>
              </a:spcAft>
            </a:pPr>
            <a:r>
              <a:rPr sz="2500" b="1" i="0">
                <a:solidFill>
                  <a:srgbClr val="4EA8DE"/>
                </a:solidFill>
                <a:latin typeface="Calibri"/>
              </a:rPr>
              <a:t>▸  </a:t>
            </a:r>
            <a:r>
              <a:rPr sz="2500" b="1" i="0">
                <a:solidFill>
                  <a:srgbClr val="182030"/>
                </a:solidFill>
                <a:latin typeface="Calibri"/>
              </a:rPr>
              <a:t>Three INDI drivers </a:t>
            </a:r>
            <a:r>
              <a:rPr sz="2500" b="0" i="0">
                <a:solidFill>
                  <a:srgbClr val="182030"/>
                </a:solidFill>
                <a:latin typeface="Calibri"/>
              </a:rPr>
              <a:t>— LX200, Mount Bridge, Simulator.</a:t>
            </a:r>
          </a:p>
          <a:p>
            <a:pPr marL="384048" indent="-384048">
              <a:lnSpc>
                <a:spcPct val="112000"/>
              </a:lnSpc>
              <a:spcBef>
                <a:spcPts val="0"/>
              </a:spcBef>
              <a:spcAft>
                <a:spcPts val="2000"/>
              </a:spcAft>
            </a:pPr>
            <a:r>
              <a:rPr sz="2500" b="1" i="0">
                <a:solidFill>
                  <a:srgbClr val="4EA8DE"/>
                </a:solidFill>
                <a:latin typeface="Calibri"/>
              </a:rPr>
              <a:t>▸  </a:t>
            </a:r>
            <a:r>
              <a:rPr sz="2500" b="1" i="0">
                <a:solidFill>
                  <a:srgbClr val="182030"/>
                </a:solidFill>
                <a:latin typeface="Calibri"/>
              </a:rPr>
              <a:t>A web Control Center </a:t>
            </a:r>
            <a:r>
              <a:rPr sz="2500" b="0" i="0">
                <a:solidFill>
                  <a:srgbClr val="182030"/>
                </a:solidFill>
                <a:latin typeface="Calibri"/>
              </a:rPr>
              <a:t>— stdlib-only, port 8765.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00800"/>
            <a:ext cx="10911535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5C677B"/>
                </a:solidFill>
                <a:latin typeface="Calibri"/>
              </a:rPr>
              <a:t>Part 1 · Summary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640080" y="566928"/>
            <a:ext cx="155448" cy="155448"/>
          </a:xfrm>
          <a:prstGeom prst="ellipse">
            <a:avLst/>
          </a:prstGeom>
          <a:solidFill>
            <a:srgbClr val="FFB7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32688" y="530352"/>
            <a:ext cx="10618927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4EA8DE"/>
                </a:solidFill>
                <a:latin typeface="Calibri"/>
              </a:rPr>
              <a:t>SCOPE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96112"/>
            <a:ext cx="10911535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4000" b="1" i="0">
                <a:solidFill>
                  <a:srgbClr val="182030"/>
                </a:solidFill>
                <a:latin typeface="Calibri"/>
              </a:rPr>
              <a:t>What PFSM is not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011680"/>
            <a:ext cx="10972800" cy="4023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384048" indent="-384048">
              <a:lnSpc>
                <a:spcPct val="112000"/>
              </a:lnSpc>
              <a:spcBef>
                <a:spcPts val="0"/>
              </a:spcBef>
              <a:spcAft>
                <a:spcPts val="2000"/>
              </a:spcAft>
            </a:pPr>
            <a:r>
              <a:rPr sz="2500" b="1" i="0">
                <a:solidFill>
                  <a:srgbClr val="C6453A"/>
                </a:solidFill>
                <a:latin typeface="Calibri"/>
              </a:rPr>
              <a:t>▸  </a:t>
            </a:r>
            <a:r>
              <a:rPr sz="2500" b="1" i="0">
                <a:solidFill>
                  <a:srgbClr val="182030"/>
                </a:solidFill>
                <a:latin typeface="Calibri"/>
              </a:rPr>
              <a:t>Not a fork of PiFinder </a:t>
            </a:r>
            <a:r>
              <a:rPr sz="2500" b="0" i="0">
                <a:solidFill>
                  <a:srgbClr val="182030"/>
                </a:solidFill>
                <a:latin typeface="Calibri"/>
              </a:rPr>
              <a:t>— patches re-applied every update, kept minimal.</a:t>
            </a:r>
          </a:p>
          <a:p>
            <a:pPr marL="384048" indent="-384048">
              <a:lnSpc>
                <a:spcPct val="112000"/>
              </a:lnSpc>
              <a:spcBef>
                <a:spcPts val="0"/>
              </a:spcBef>
              <a:spcAft>
                <a:spcPts val="2000"/>
              </a:spcAft>
            </a:pPr>
            <a:r>
              <a:rPr sz="2500" b="1" i="0">
                <a:solidFill>
                  <a:srgbClr val="C6453A"/>
                </a:solidFill>
                <a:latin typeface="Calibri"/>
              </a:rPr>
              <a:t>▸  </a:t>
            </a:r>
            <a:r>
              <a:rPr sz="2500" b="1" i="0">
                <a:solidFill>
                  <a:srgbClr val="182030"/>
                </a:solidFill>
                <a:latin typeface="Calibri"/>
              </a:rPr>
              <a:t>Not a fork of StellarMate </a:t>
            </a:r>
            <a:r>
              <a:rPr sz="2500" b="0" i="0">
                <a:solidFill>
                  <a:srgbClr val="182030"/>
                </a:solidFill>
                <a:latin typeface="Calibri"/>
              </a:rPr>
              <a:t>— stock INDI, Web Manager, KStars.</a:t>
            </a:r>
          </a:p>
          <a:p>
            <a:pPr marL="384048" indent="-384048">
              <a:lnSpc>
                <a:spcPct val="112000"/>
              </a:lnSpc>
              <a:spcBef>
                <a:spcPts val="0"/>
              </a:spcBef>
              <a:spcAft>
                <a:spcPts val="2000"/>
              </a:spcAft>
            </a:pPr>
            <a:r>
              <a:rPr sz="2500" b="1" i="0">
                <a:solidFill>
                  <a:srgbClr val="C6453A"/>
                </a:solidFill>
                <a:latin typeface="Calibri"/>
              </a:rPr>
              <a:t>▸  </a:t>
            </a:r>
            <a:r>
              <a:rPr sz="2500" b="1" i="0">
                <a:solidFill>
                  <a:srgbClr val="182030"/>
                </a:solidFill>
                <a:latin typeface="Calibri"/>
              </a:rPr>
              <a:t>Not a replacement for the INDI Control Panel </a:t>
            </a:r>
            <a:r>
              <a:rPr sz="2500" b="0" i="0">
                <a:solidFill>
                  <a:srgbClr val="182030"/>
                </a:solidFill>
                <a:latin typeface="Calibri"/>
              </a:rPr>
              <a:t>— it stays for advanced work.</a:t>
            </a:r>
          </a:p>
          <a:p>
            <a:pPr marL="384048" indent="-384048">
              <a:lnSpc>
                <a:spcPct val="112000"/>
              </a:lnSpc>
              <a:spcBef>
                <a:spcPts val="0"/>
              </a:spcBef>
              <a:spcAft>
                <a:spcPts val="2000"/>
              </a:spcAft>
            </a:pPr>
            <a:r>
              <a:rPr sz="2500" b="1" i="0">
                <a:solidFill>
                  <a:srgbClr val="C6453A"/>
                </a:solidFill>
                <a:latin typeface="Calibri"/>
              </a:rPr>
              <a:t>▸  </a:t>
            </a:r>
            <a:r>
              <a:rPr sz="2500" b="1" i="0">
                <a:solidFill>
                  <a:srgbClr val="182030"/>
                </a:solidFill>
                <a:latin typeface="Calibri"/>
              </a:rPr>
              <a:t>Not PiFinder-version-specific </a:t>
            </a:r>
            <a:r>
              <a:rPr sz="2500" b="0" i="0">
                <a:solidFill>
                  <a:srgbClr val="182030"/>
                </a:solidFill>
                <a:latin typeface="Calibri"/>
              </a:rPr>
              <a:t>— talks only to the stable /api/*.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00800"/>
            <a:ext cx="10911535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5C677B"/>
                </a:solidFill>
                <a:latin typeface="Calibri"/>
              </a:rPr>
              <a:t>Part 1 · Summary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640080" y="566928"/>
            <a:ext cx="155448" cy="155448"/>
          </a:xfrm>
          <a:prstGeom prst="ellipse">
            <a:avLst/>
          </a:prstGeom>
          <a:solidFill>
            <a:srgbClr val="FFB7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32688" y="530352"/>
            <a:ext cx="10618927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4EA8DE"/>
                </a:solidFill>
                <a:latin typeface="Calibri"/>
              </a:rPr>
              <a:t>THE KEY DECISION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96112"/>
            <a:ext cx="10911535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4000" b="1" i="0">
                <a:solidFill>
                  <a:srgbClr val="182030"/>
                </a:solidFill>
                <a:latin typeface="Calibri"/>
              </a:rPr>
              <a:t>Why INDI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194560"/>
            <a:ext cx="1097280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3600" b="1" i="0">
                <a:solidFill>
                  <a:srgbClr val="1B2A4A"/>
                </a:solidFill>
                <a:latin typeface="Calibri"/>
              </a:rPr>
              <a:t>Both sides already speak it.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657600"/>
            <a:ext cx="10972800" cy="2377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384048" indent="-384048">
              <a:lnSpc>
                <a:spcPct val="112000"/>
              </a:lnSpc>
              <a:spcBef>
                <a:spcPts val="0"/>
              </a:spcBef>
              <a:spcAft>
                <a:spcPts val="1600"/>
              </a:spcAft>
            </a:pPr>
            <a:r>
              <a:rPr sz="2500" b="1" i="0">
                <a:solidFill>
                  <a:srgbClr val="4EA8DE"/>
                </a:solidFill>
                <a:latin typeface="Calibri"/>
              </a:rPr>
              <a:t>▸  </a:t>
            </a:r>
            <a:r>
              <a:rPr sz="2500" b="0" i="0">
                <a:solidFill>
                  <a:srgbClr val="182030"/>
                </a:solidFill>
                <a:latin typeface="Calibri"/>
              </a:rPr>
              <a:t>PiFinder exposes its position as an INDI telescope.</a:t>
            </a:r>
          </a:p>
          <a:p>
            <a:pPr marL="384048" indent="-384048">
              <a:lnSpc>
                <a:spcPct val="112000"/>
              </a:lnSpc>
              <a:spcBef>
                <a:spcPts val="0"/>
              </a:spcBef>
              <a:spcAft>
                <a:spcPts val="1600"/>
              </a:spcAft>
            </a:pPr>
            <a:r>
              <a:rPr sz="2500" b="1" i="0">
                <a:solidFill>
                  <a:srgbClr val="4EA8DE"/>
                </a:solidFill>
                <a:latin typeface="Calibri"/>
              </a:rPr>
              <a:t>▸  </a:t>
            </a:r>
            <a:r>
              <a:rPr sz="2500" b="0" i="0">
                <a:solidFill>
                  <a:srgbClr val="182030"/>
                </a:solidFill>
                <a:latin typeface="Calibri"/>
              </a:rPr>
              <a:t>The Mount Bridge couples that to any INDI mount — no per-mount code.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00800"/>
            <a:ext cx="10911535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5C677B"/>
                </a:solidFill>
                <a:latin typeface="Calibri"/>
              </a:rPr>
              <a:t>Part 1 · Summary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640080" y="566928"/>
            <a:ext cx="155448" cy="155448"/>
          </a:xfrm>
          <a:prstGeom prst="ellipse">
            <a:avLst/>
          </a:prstGeom>
          <a:solidFill>
            <a:srgbClr val="FFB7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32688" y="530352"/>
            <a:ext cx="10618927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4EA8DE"/>
                </a:solidFill>
                <a:latin typeface="Calibri"/>
              </a:rPr>
              <a:t>TESTED AGAINST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96112"/>
            <a:ext cx="10911535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4000" b="1" i="0">
                <a:solidFill>
                  <a:srgbClr val="182030"/>
                </a:solidFill>
                <a:latin typeface="Calibri"/>
              </a:rPr>
              <a:t>Versions &amp; platforms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286000"/>
            <a:ext cx="109728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 i="0">
                <a:solidFill>
                  <a:srgbClr val="182030"/>
                </a:solidFill>
                <a:latin typeface="Calibri"/>
              </a:rPr>
              <a:t>PiFinder 2.6.3   ·   StellarMate OS 2.3.0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108960"/>
            <a:ext cx="10972800" cy="2194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384048" indent="-384048">
              <a:lnSpc>
                <a:spcPct val="112000"/>
              </a:lnSpc>
              <a:spcBef>
                <a:spcPts val="0"/>
              </a:spcBef>
              <a:spcAft>
                <a:spcPts val="1400"/>
              </a:spcAft>
            </a:pPr>
            <a:r>
              <a:rPr sz="2100" b="1" i="0">
                <a:solidFill>
                  <a:srgbClr val="4EA8DE"/>
                </a:solidFill>
                <a:latin typeface="Calibri"/>
              </a:rPr>
              <a:t>▸  </a:t>
            </a:r>
            <a:r>
              <a:rPr sz="2100" b="1" i="0">
                <a:solidFill>
                  <a:srgbClr val="182030"/>
                </a:solidFill>
                <a:latin typeface="Calibri"/>
              </a:rPr>
              <a:t>Pi 4 </a:t>
            </a:r>
            <a:r>
              <a:rPr sz="2100" b="0" i="0">
                <a:solidFill>
                  <a:srgbClr val="182030"/>
                </a:solidFill>
                <a:latin typeface="Calibri"/>
              </a:rPr>
              <a:t>— fully tested.</a:t>
            </a:r>
          </a:p>
          <a:p>
            <a:pPr marL="384048" indent="-384048">
              <a:lnSpc>
                <a:spcPct val="112000"/>
              </a:lnSpc>
              <a:spcBef>
                <a:spcPts val="0"/>
              </a:spcBef>
              <a:spcAft>
                <a:spcPts val="1400"/>
              </a:spcAft>
            </a:pPr>
            <a:r>
              <a:rPr sz="2100" b="1" i="0">
                <a:solidFill>
                  <a:srgbClr val="4EA8DE"/>
                </a:solidFill>
                <a:latin typeface="Calibri"/>
              </a:rPr>
              <a:t>▸  </a:t>
            </a:r>
            <a:r>
              <a:rPr sz="2100" b="1" i="0">
                <a:solidFill>
                  <a:srgbClr val="182030"/>
                </a:solidFill>
                <a:latin typeface="Calibri"/>
              </a:rPr>
              <a:t>Pi 5 </a:t>
            </a:r>
            <a:r>
              <a:rPr sz="2100" b="0" i="0">
                <a:solidFill>
                  <a:srgbClr val="182030"/>
                </a:solidFill>
                <a:latin typeface="Calibri"/>
              </a:rPr>
              <a:t>— fully tested.</a:t>
            </a:r>
          </a:p>
          <a:p>
            <a:pPr marL="384048" indent="-384048">
              <a:lnSpc>
                <a:spcPct val="112000"/>
              </a:lnSpc>
              <a:spcBef>
                <a:spcPts val="0"/>
              </a:spcBef>
              <a:spcAft>
                <a:spcPts val="1400"/>
              </a:spcAft>
            </a:pPr>
            <a:r>
              <a:rPr sz="2100" b="1" i="0">
                <a:solidFill>
                  <a:srgbClr val="4EA8DE"/>
                </a:solidFill>
                <a:latin typeface="Calibri"/>
              </a:rPr>
              <a:t>▸  </a:t>
            </a:r>
            <a:r>
              <a:rPr sz="2100" b="1" i="0">
                <a:solidFill>
                  <a:srgbClr val="182030"/>
                </a:solidFill>
                <a:latin typeface="Calibri"/>
              </a:rPr>
              <a:t>UTM x86 </a:t>
            </a:r>
            <a:r>
              <a:rPr sz="2100" b="0" i="0">
                <a:solidFill>
                  <a:srgbClr val="182030"/>
                </a:solidFill>
                <a:latin typeface="Calibri"/>
              </a:rPr>
              <a:t>— install + Control Center + Mount Bridge vs. the Simulator (no real solving).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5669280"/>
            <a:ext cx="109728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5C677B"/>
                </a:solidFill>
                <a:latin typeface="Calibri"/>
              </a:rPr>
              <a:t>Pinned to a fixed release tag, not the upstream </a:t>
            </a:r>
            <a:r>
              <a:rPr sz="1600" b="1" i="0">
                <a:solidFill>
                  <a:srgbClr val="182030"/>
                </a:solidFill>
                <a:latin typeface="Calibri"/>
              </a:rPr>
              <a:t>release</a:t>
            </a:r>
            <a:r>
              <a:rPr sz="1600" b="0" i="0">
                <a:solidFill>
                  <a:srgbClr val="5C677B"/>
                </a:solidFill>
                <a:latin typeface="Calibri"/>
              </a:rPr>
              <a:t> branch. The README table is the single source of truth.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00800"/>
            <a:ext cx="10911535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5C677B"/>
                </a:solidFill>
                <a:latin typeface="Calibri"/>
              </a:rPr>
              <a:t>Part 1 · Summary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0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3469055" y="3160905"/>
            <a:ext cx="41148" cy="4114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825554" y="1635992"/>
            <a:ext cx="27432" cy="27432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11534581" y="3841673"/>
            <a:ext cx="41148" cy="4114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1068431" y="1687184"/>
            <a:ext cx="41148" cy="4114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3416673" y="5660648"/>
            <a:ext cx="18288" cy="1828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11010169" y="2166156"/>
            <a:ext cx="41148" cy="4114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6668999" y="3536757"/>
            <a:ext cx="18288" cy="1828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6358667" y="4275253"/>
            <a:ext cx="18288" cy="1828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8821843" y="4234516"/>
            <a:ext cx="18288" cy="1828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>
            <a:off x="7269182" y="1321682"/>
            <a:ext cx="27432" cy="27432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10528792" y="4519703"/>
            <a:ext cx="27432" cy="27432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>
            <a:off x="1856696" y="2527438"/>
            <a:ext cx="18288" cy="1828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Oval 14"/>
          <p:cNvSpPr/>
          <p:nvPr/>
        </p:nvSpPr>
        <p:spPr>
          <a:xfrm>
            <a:off x="624388" y="6509016"/>
            <a:ext cx="27432" cy="27432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Oval 15"/>
          <p:cNvSpPr/>
          <p:nvPr/>
        </p:nvSpPr>
        <p:spPr>
          <a:xfrm>
            <a:off x="10653221" y="4324361"/>
            <a:ext cx="18288" cy="1828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Oval 16"/>
          <p:cNvSpPr/>
          <p:nvPr/>
        </p:nvSpPr>
        <p:spPr>
          <a:xfrm>
            <a:off x="11854398" y="6155744"/>
            <a:ext cx="41148" cy="4114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Oval 17"/>
          <p:cNvSpPr/>
          <p:nvPr/>
        </p:nvSpPr>
        <p:spPr>
          <a:xfrm>
            <a:off x="2717629" y="3139337"/>
            <a:ext cx="41148" cy="4114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Oval 18"/>
          <p:cNvSpPr/>
          <p:nvPr/>
        </p:nvSpPr>
        <p:spPr>
          <a:xfrm>
            <a:off x="7868036" y="5376787"/>
            <a:ext cx="41148" cy="4114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Oval 19"/>
          <p:cNvSpPr/>
          <p:nvPr/>
        </p:nvSpPr>
        <p:spPr>
          <a:xfrm>
            <a:off x="10640497" y="1893146"/>
            <a:ext cx="27432" cy="27432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Oval 20"/>
          <p:cNvSpPr/>
          <p:nvPr/>
        </p:nvSpPr>
        <p:spPr>
          <a:xfrm>
            <a:off x="7121787" y="4560680"/>
            <a:ext cx="18288" cy="1828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Oval 21"/>
          <p:cNvSpPr/>
          <p:nvPr/>
        </p:nvSpPr>
        <p:spPr>
          <a:xfrm>
            <a:off x="9463622" y="2892150"/>
            <a:ext cx="27432" cy="27432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Oval 22"/>
          <p:cNvSpPr/>
          <p:nvPr/>
        </p:nvSpPr>
        <p:spPr>
          <a:xfrm>
            <a:off x="3812242" y="6703616"/>
            <a:ext cx="18288" cy="1828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Oval 23"/>
          <p:cNvSpPr/>
          <p:nvPr/>
        </p:nvSpPr>
        <p:spPr>
          <a:xfrm>
            <a:off x="4438300" y="2748243"/>
            <a:ext cx="41148" cy="4114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Oval 24"/>
          <p:cNvSpPr/>
          <p:nvPr/>
        </p:nvSpPr>
        <p:spPr>
          <a:xfrm>
            <a:off x="3175063" y="253456"/>
            <a:ext cx="27432" cy="27432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Oval 25"/>
          <p:cNvSpPr/>
          <p:nvPr/>
        </p:nvSpPr>
        <p:spPr>
          <a:xfrm>
            <a:off x="10322713" y="2886828"/>
            <a:ext cx="41148" cy="4114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Oval 26"/>
          <p:cNvSpPr/>
          <p:nvPr/>
        </p:nvSpPr>
        <p:spPr>
          <a:xfrm>
            <a:off x="11095172" y="3700492"/>
            <a:ext cx="41148" cy="4114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Oval 27"/>
          <p:cNvSpPr/>
          <p:nvPr/>
        </p:nvSpPr>
        <p:spPr>
          <a:xfrm>
            <a:off x="8461584" y="4121039"/>
            <a:ext cx="27432" cy="27432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Oval 28"/>
          <p:cNvSpPr/>
          <p:nvPr/>
        </p:nvSpPr>
        <p:spPr>
          <a:xfrm>
            <a:off x="1453178" y="3945390"/>
            <a:ext cx="18288" cy="1828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Oval 29"/>
          <p:cNvSpPr/>
          <p:nvPr/>
        </p:nvSpPr>
        <p:spPr>
          <a:xfrm>
            <a:off x="3264578" y="5194949"/>
            <a:ext cx="41148" cy="4114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Oval 30"/>
          <p:cNvSpPr/>
          <p:nvPr/>
        </p:nvSpPr>
        <p:spPr>
          <a:xfrm>
            <a:off x="1847655" y="2476024"/>
            <a:ext cx="18288" cy="1828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Oval 31"/>
          <p:cNvSpPr/>
          <p:nvPr/>
        </p:nvSpPr>
        <p:spPr>
          <a:xfrm>
            <a:off x="3338122" y="1147940"/>
            <a:ext cx="41148" cy="4114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Oval 32"/>
          <p:cNvSpPr/>
          <p:nvPr/>
        </p:nvSpPr>
        <p:spPr>
          <a:xfrm>
            <a:off x="11022711" y="3219082"/>
            <a:ext cx="41148" cy="4114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Oval 33"/>
          <p:cNvSpPr/>
          <p:nvPr/>
        </p:nvSpPr>
        <p:spPr>
          <a:xfrm>
            <a:off x="5459751" y="1641391"/>
            <a:ext cx="18288" cy="1828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Oval 34"/>
          <p:cNvSpPr/>
          <p:nvPr/>
        </p:nvSpPr>
        <p:spPr>
          <a:xfrm>
            <a:off x="9012606" y="5389907"/>
            <a:ext cx="41148" cy="4114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Oval 35"/>
          <p:cNvSpPr/>
          <p:nvPr/>
        </p:nvSpPr>
        <p:spPr>
          <a:xfrm>
            <a:off x="8501331" y="2993805"/>
            <a:ext cx="41148" cy="4114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Oval 36"/>
          <p:cNvSpPr/>
          <p:nvPr/>
        </p:nvSpPr>
        <p:spPr>
          <a:xfrm>
            <a:off x="948349" y="646235"/>
            <a:ext cx="18288" cy="1828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Oval 37"/>
          <p:cNvSpPr/>
          <p:nvPr/>
        </p:nvSpPr>
        <p:spPr>
          <a:xfrm>
            <a:off x="2528537" y="996045"/>
            <a:ext cx="27432" cy="27432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Oval 38"/>
          <p:cNvSpPr/>
          <p:nvPr/>
        </p:nvSpPr>
        <p:spPr>
          <a:xfrm>
            <a:off x="8597025" y="776707"/>
            <a:ext cx="18288" cy="1828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Oval 39"/>
          <p:cNvSpPr/>
          <p:nvPr/>
        </p:nvSpPr>
        <p:spPr>
          <a:xfrm>
            <a:off x="7781698" y="202892"/>
            <a:ext cx="27432" cy="27432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Oval 40"/>
          <p:cNvSpPr/>
          <p:nvPr/>
        </p:nvSpPr>
        <p:spPr>
          <a:xfrm>
            <a:off x="1974189" y="925804"/>
            <a:ext cx="18288" cy="1828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Oval 41"/>
          <p:cNvSpPr/>
          <p:nvPr/>
        </p:nvSpPr>
        <p:spPr>
          <a:xfrm>
            <a:off x="1496386" y="6587431"/>
            <a:ext cx="18288" cy="1828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Oval 42"/>
          <p:cNvSpPr/>
          <p:nvPr/>
        </p:nvSpPr>
        <p:spPr>
          <a:xfrm>
            <a:off x="5738400" y="4514469"/>
            <a:ext cx="18288" cy="1828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Oval 43"/>
          <p:cNvSpPr/>
          <p:nvPr/>
        </p:nvSpPr>
        <p:spPr>
          <a:xfrm>
            <a:off x="9816528" y="5911330"/>
            <a:ext cx="18288" cy="1828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Oval 44"/>
          <p:cNvSpPr/>
          <p:nvPr/>
        </p:nvSpPr>
        <p:spPr>
          <a:xfrm>
            <a:off x="8163318" y="1646979"/>
            <a:ext cx="18288" cy="1828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Oval 45"/>
          <p:cNvSpPr/>
          <p:nvPr/>
        </p:nvSpPr>
        <p:spPr>
          <a:xfrm>
            <a:off x="1057606" y="4551209"/>
            <a:ext cx="18288" cy="1828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640080" y="1920240"/>
            <a:ext cx="2743200" cy="1554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600" b="1" i="0">
                <a:solidFill>
                  <a:srgbClr val="FFB703"/>
                </a:solidFill>
                <a:latin typeface="Calibri"/>
              </a:rPr>
              <a:t>02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40080" y="3346704"/>
            <a:ext cx="10911535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4EA8DE"/>
                </a:solidFill>
                <a:latin typeface="Calibri"/>
              </a:rPr>
              <a:t>PART TWO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40080" y="3712463"/>
            <a:ext cx="10911535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5200" b="1" i="0">
                <a:solidFill>
                  <a:srgbClr val="FFFFFF"/>
                </a:solidFill>
                <a:latin typeface="Calibri"/>
              </a:rPr>
              <a:t>PFSM Control Center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40080" y="4846320"/>
            <a:ext cx="9997135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0" i="0">
                <a:solidFill>
                  <a:srgbClr val="9AA6C2"/>
                </a:solidFill>
                <a:latin typeface="Calibri"/>
              </a:rPr>
              <a:t>Install, mode-switching, hardware checks and the Mount Bridge — one web page, no SSH.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640080" y="566928"/>
            <a:ext cx="155448" cy="155448"/>
          </a:xfrm>
          <a:prstGeom prst="ellipse">
            <a:avLst/>
          </a:prstGeom>
          <a:solidFill>
            <a:srgbClr val="FFB7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32688" y="530352"/>
            <a:ext cx="10618927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4EA8DE"/>
                </a:solidFill>
                <a:latin typeface="Calibri"/>
              </a:rPr>
              <a:t>MOTIVATION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96112"/>
            <a:ext cx="10911535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4000" b="1" i="0">
                <a:solidFill>
                  <a:srgbClr val="182030"/>
                </a:solidFill>
                <a:latin typeface="Calibri"/>
              </a:rPr>
              <a:t>Why a Control Center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148840"/>
            <a:ext cx="5943600" cy="3840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384048" indent="-384048">
              <a:lnSpc>
                <a:spcPct val="112000"/>
              </a:lnSpc>
              <a:spcBef>
                <a:spcPts val="0"/>
              </a:spcBef>
              <a:spcAft>
                <a:spcPts val="2000"/>
              </a:spcAft>
            </a:pPr>
            <a:r>
              <a:rPr sz="2500" b="1" i="0">
                <a:solidFill>
                  <a:srgbClr val="4EA8DE"/>
                </a:solidFill>
                <a:latin typeface="Calibri"/>
              </a:rPr>
              <a:t>▸  </a:t>
            </a:r>
            <a:r>
              <a:rPr sz="2500" b="0" i="0">
                <a:solidFill>
                  <a:srgbClr val="182030"/>
                </a:solidFill>
                <a:latin typeface="Calibri"/>
              </a:rPr>
              <a:t>Watch an install from a phone at the scope.</a:t>
            </a:r>
          </a:p>
          <a:p>
            <a:pPr marL="384048" indent="-384048">
              <a:lnSpc>
                <a:spcPct val="112000"/>
              </a:lnSpc>
              <a:spcBef>
                <a:spcPts val="0"/>
              </a:spcBef>
              <a:spcAft>
                <a:spcPts val="2000"/>
              </a:spcAft>
            </a:pPr>
            <a:r>
              <a:rPr sz="2500" b="1" i="0">
                <a:solidFill>
                  <a:srgbClr val="4EA8DE"/>
                </a:solidFill>
                <a:latin typeface="Calibri"/>
              </a:rPr>
              <a:t>▸  </a:t>
            </a:r>
            <a:r>
              <a:rPr sz="2500" b="0" i="0">
                <a:solidFill>
                  <a:srgbClr val="182030"/>
                </a:solidFill>
                <a:latin typeface="Calibri"/>
              </a:rPr>
              <a:t>Switch Fake Mode ⟷ the real service.</a:t>
            </a:r>
          </a:p>
          <a:p>
            <a:pPr marL="384048" indent="-384048">
              <a:lnSpc>
                <a:spcPct val="112000"/>
              </a:lnSpc>
              <a:spcBef>
                <a:spcPts val="0"/>
              </a:spcBef>
              <a:spcAft>
                <a:spcPts val="2000"/>
              </a:spcAft>
            </a:pPr>
            <a:r>
              <a:rPr sz="2500" b="1" i="0">
                <a:solidFill>
                  <a:srgbClr val="4EA8DE"/>
                </a:solidFill>
                <a:latin typeface="Calibri"/>
              </a:rPr>
              <a:t>▸  </a:t>
            </a:r>
            <a:r>
              <a:rPr sz="2500" b="0" i="0">
                <a:solidFill>
                  <a:srgbClr val="182030"/>
                </a:solidFill>
                <a:latin typeface="Calibri"/>
              </a:rPr>
              <a:t>Check camera / IMU / GPS are really detected.</a:t>
            </a:r>
          </a:p>
          <a:p>
            <a:pPr marL="384048" indent="-384048">
              <a:lnSpc>
                <a:spcPct val="112000"/>
              </a:lnSpc>
              <a:spcBef>
                <a:spcPts val="0"/>
              </a:spcBef>
              <a:spcAft>
                <a:spcPts val="2000"/>
              </a:spcAft>
            </a:pPr>
            <a:r>
              <a:rPr sz="2500" b="1" i="0">
                <a:solidFill>
                  <a:srgbClr val="4EA8DE"/>
                </a:solidFill>
                <a:latin typeface="Calibri"/>
              </a:rPr>
              <a:t>▸  </a:t>
            </a:r>
            <a:r>
              <a:rPr sz="2500" b="0" i="0">
                <a:solidFill>
                  <a:srgbClr val="182030"/>
                </a:solidFill>
                <a:latin typeface="Calibri"/>
              </a:rPr>
              <a:t>Reboot the Pi without SSH.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00800"/>
            <a:ext cx="10911535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5C677B"/>
                </a:solidFill>
                <a:latin typeface="Calibri"/>
              </a:rPr>
              <a:t>Part 2 · Control Center</a:t>
            </a:r>
          </a:p>
        </p:txBody>
      </p:sp>
      <p:pic>
        <p:nvPicPr>
          <p:cNvPr id="9" name="Picture 7" descr="cc_full_page.png">
            <a:extLst>
              <a:ext uri="{FF2B5EF4-FFF2-40B4-BE49-F238E27FC236}">
                <a16:creationId xmlns:a16="http://schemas.microsoft.com/office/drawing/2014/main" id="{B8930D96-151B-222F-9C0E-A9741919E21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20840" y="0"/>
            <a:ext cx="5471160" cy="6907339"/>
          </a:xfrm>
          <a:prstGeom prst="rect">
            <a:avLst/>
          </a:prstGeom>
          <a:ln w="12700">
            <a:solidFill>
              <a:srgbClr val="D8E0EC"/>
            </a:solidFill>
          </a:ln>
          <a:effectLst>
            <a:outerShdw blurRad="90000" dist="34000" dir="5400000" rotWithShape="0">
              <a:srgbClr val="0B1026">
                <a:alpha val="20000"/>
              </a:srgbClr>
            </a:outerShdw>
          </a:effectLst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640080" y="566928"/>
            <a:ext cx="155448" cy="155448"/>
          </a:xfrm>
          <a:prstGeom prst="ellipse">
            <a:avLst/>
          </a:prstGeom>
          <a:solidFill>
            <a:srgbClr val="FFB7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32688" y="530352"/>
            <a:ext cx="10618927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4EA8DE"/>
                </a:solidFill>
                <a:latin typeface="Calibri"/>
              </a:rPr>
              <a:t>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96112"/>
            <a:ext cx="10911535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4000" b="1" i="0">
                <a:solidFill>
                  <a:srgbClr val="182030"/>
                </a:solidFill>
                <a:latin typeface="Calibri"/>
              </a:rPr>
              <a:t>Stdlib only — by necessity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194560"/>
            <a:ext cx="5943600" cy="2743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 i="0">
                <a:solidFill>
                  <a:srgbClr val="182030"/>
                </a:solidFill>
                <a:latin typeface="Calibri"/>
              </a:rPr>
              <a:t>It bootstraps the very venv that PiFinder needs, so it can’t depend on one.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572000"/>
            <a:ext cx="5548069" cy="124604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384048" indent="-384048">
              <a:lnSpc>
                <a:spcPct val="112000"/>
              </a:lnSpc>
              <a:spcBef>
                <a:spcPts val="0"/>
              </a:spcBef>
              <a:spcAft>
                <a:spcPts val="1400"/>
              </a:spcAft>
            </a:pPr>
            <a:r>
              <a:rPr sz="2100" b="1" i="0" dirty="0">
                <a:solidFill>
                  <a:srgbClr val="4EA8DE"/>
                </a:solidFill>
                <a:latin typeface="Calibri"/>
              </a:rPr>
              <a:t>▸  </a:t>
            </a:r>
            <a:r>
              <a:rPr sz="2100" b="0" i="0" dirty="0" err="1">
                <a:solidFill>
                  <a:srgbClr val="182030"/>
                </a:solidFill>
                <a:latin typeface="Calibri"/>
              </a:rPr>
              <a:t>http.server</a:t>
            </a:r>
            <a:r>
              <a:rPr sz="2100" b="0" i="0" dirty="0">
                <a:solidFill>
                  <a:srgbClr val="182030"/>
                </a:solidFill>
                <a:latin typeface="Calibri"/>
              </a:rPr>
              <a:t> on :8765, polled every 1–2 s.</a:t>
            </a:r>
          </a:p>
          <a:p>
            <a:pPr marL="384048" indent="-384048">
              <a:lnSpc>
                <a:spcPct val="112000"/>
              </a:lnSpc>
              <a:spcBef>
                <a:spcPts val="0"/>
              </a:spcBef>
              <a:spcAft>
                <a:spcPts val="1400"/>
              </a:spcAft>
            </a:pPr>
            <a:r>
              <a:rPr sz="2100" b="1" i="0" dirty="0">
                <a:solidFill>
                  <a:srgbClr val="4EA8DE"/>
                </a:solidFill>
                <a:latin typeface="Calibri"/>
              </a:rPr>
              <a:t>▸  </a:t>
            </a:r>
            <a:r>
              <a:rPr sz="2100" b="0" i="0" dirty="0">
                <a:solidFill>
                  <a:srgbClr val="182030"/>
                </a:solidFill>
                <a:latin typeface="Calibri"/>
              </a:rPr>
              <a:t>HTTP Basic auth against the system account (PAM).</a:t>
            </a:r>
          </a:p>
        </p:txBody>
      </p:sp>
      <p:pic>
        <p:nvPicPr>
          <p:cNvPr id="8" name="Picture 7" descr="cc_full_p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20840" y="0"/>
            <a:ext cx="5471160" cy="6907339"/>
          </a:xfrm>
          <a:prstGeom prst="rect">
            <a:avLst/>
          </a:prstGeom>
          <a:ln w="12700">
            <a:solidFill>
              <a:srgbClr val="D8E0EC"/>
            </a:solidFill>
          </a:ln>
          <a:effectLst>
            <a:outerShdw blurRad="90000" dist="34000" dir="5400000" rotWithShape="0">
              <a:srgbClr val="0B1026">
                <a:alpha val="20000"/>
              </a:srgbClr>
            </a:outerShdw>
          </a:effectLst>
        </p:spPr>
      </p:pic>
      <p:sp>
        <p:nvSpPr>
          <p:cNvPr id="9" name="TextBox 8"/>
          <p:cNvSpPr txBox="1"/>
          <p:nvPr/>
        </p:nvSpPr>
        <p:spPr>
          <a:xfrm>
            <a:off x="640080" y="6400800"/>
            <a:ext cx="10911535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5C677B"/>
                </a:solidFill>
                <a:latin typeface="Calibri"/>
              </a:rPr>
              <a:t>Part 2 · Control Center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640080" y="566928"/>
            <a:ext cx="155448" cy="155448"/>
          </a:xfrm>
          <a:prstGeom prst="ellipse">
            <a:avLst/>
          </a:prstGeom>
          <a:solidFill>
            <a:srgbClr val="FFB7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32688" y="530352"/>
            <a:ext cx="10618927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4EA8DE"/>
                </a:solidFill>
                <a:latin typeface="Calibri"/>
              </a:rPr>
              <a:t>STATUS LANGUAGE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96112"/>
            <a:ext cx="10911535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4000" b="1" i="0">
                <a:solidFill>
                  <a:srgbClr val="182030"/>
                </a:solidFill>
                <a:latin typeface="Calibri"/>
              </a:rPr>
              <a:t>Traffic-light badges</a:t>
            </a:r>
          </a:p>
        </p:txBody>
      </p:sp>
      <p:sp>
        <p:nvSpPr>
          <p:cNvPr id="6" name="Oval 5"/>
          <p:cNvSpPr/>
          <p:nvPr/>
        </p:nvSpPr>
        <p:spPr>
          <a:xfrm>
            <a:off x="640080" y="2212848"/>
            <a:ext cx="310896" cy="310896"/>
          </a:xfrm>
          <a:prstGeom prst="ellipse">
            <a:avLst/>
          </a:prstGeom>
          <a:solidFill>
            <a:srgbClr val="C4C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188719" y="2148840"/>
            <a:ext cx="10058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182030"/>
                </a:solidFill>
                <a:latin typeface="Calibri"/>
              </a:rPr>
              <a:t>White  </a:t>
            </a:r>
            <a:r>
              <a:rPr sz="2500" b="0" i="0">
                <a:solidFill>
                  <a:srgbClr val="5C677B"/>
                </a:solidFill>
                <a:latin typeface="Calibri"/>
              </a:rPr>
              <a:t>not applicable yet</a:t>
            </a:r>
          </a:p>
        </p:txBody>
      </p:sp>
      <p:sp>
        <p:nvSpPr>
          <p:cNvPr id="8" name="Oval 7"/>
          <p:cNvSpPr/>
          <p:nvPr/>
        </p:nvSpPr>
        <p:spPr>
          <a:xfrm>
            <a:off x="640080" y="2926079"/>
            <a:ext cx="310896" cy="310896"/>
          </a:xfrm>
          <a:prstGeom prst="ellipse">
            <a:avLst/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188719" y="2862072"/>
            <a:ext cx="10058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182030"/>
                </a:solidFill>
                <a:latin typeface="Calibri"/>
              </a:rPr>
              <a:t>Green  </a:t>
            </a:r>
            <a:r>
              <a:rPr sz="2500" b="0" i="0">
                <a:solidFill>
                  <a:srgbClr val="5C677B"/>
                </a:solidFill>
                <a:latin typeface="Calibri"/>
              </a:rPr>
              <a:t>verified functional</a:t>
            </a:r>
          </a:p>
        </p:txBody>
      </p:sp>
      <p:sp>
        <p:nvSpPr>
          <p:cNvPr id="10" name="Oval 9"/>
          <p:cNvSpPr/>
          <p:nvPr/>
        </p:nvSpPr>
        <p:spPr>
          <a:xfrm>
            <a:off x="640080" y="3639312"/>
            <a:ext cx="310896" cy="310896"/>
          </a:xfrm>
          <a:prstGeom prst="ellipse">
            <a:avLst/>
          </a:prstGeom>
          <a:solidFill>
            <a:srgbClr val="FFB7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188719" y="3575304"/>
            <a:ext cx="10058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182030"/>
                </a:solidFill>
                <a:latin typeface="Calibri"/>
              </a:rPr>
              <a:t>Yellow  </a:t>
            </a:r>
            <a:r>
              <a:rPr sz="2500" b="0" i="0">
                <a:solidFill>
                  <a:srgbClr val="5C677B"/>
                </a:solidFill>
                <a:latin typeface="Calibri"/>
              </a:rPr>
              <a:t>degraded / estimate</a:t>
            </a:r>
          </a:p>
        </p:txBody>
      </p:sp>
      <p:sp>
        <p:nvSpPr>
          <p:cNvPr id="12" name="Oval 11"/>
          <p:cNvSpPr/>
          <p:nvPr/>
        </p:nvSpPr>
        <p:spPr>
          <a:xfrm>
            <a:off x="640080" y="4352544"/>
            <a:ext cx="310896" cy="310896"/>
          </a:xfrm>
          <a:prstGeom prst="ellipse">
            <a:avLst/>
          </a:prstGeom>
          <a:solidFill>
            <a:srgbClr val="C64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188719" y="4288536"/>
            <a:ext cx="10058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182030"/>
                </a:solidFill>
                <a:latin typeface="Calibri"/>
              </a:rPr>
              <a:t>Red  </a:t>
            </a:r>
            <a:r>
              <a:rPr sz="2500" b="0" i="0">
                <a:solidFill>
                  <a:srgbClr val="5C677B"/>
                </a:solidFill>
                <a:latin typeface="Calibri"/>
              </a:rPr>
              <a:t>broken or wrong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623560"/>
            <a:ext cx="109728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0" i="0">
                <a:solidFill>
                  <a:srgbClr val="5C677B"/>
                </a:solidFill>
                <a:latin typeface="Calibri"/>
              </a:rPr>
              <a:t>The rule: verify real state, never “the process is alive”.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6400800"/>
            <a:ext cx="10911535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5C677B"/>
                </a:solidFill>
                <a:latin typeface="Calibri"/>
              </a:rPr>
              <a:t>Part 2 · Control Center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640080" y="566928"/>
            <a:ext cx="155448" cy="155448"/>
          </a:xfrm>
          <a:prstGeom prst="ellipse">
            <a:avLst/>
          </a:prstGeom>
          <a:solidFill>
            <a:srgbClr val="FFB7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32688" y="530352"/>
            <a:ext cx="10618927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4EA8DE"/>
                </a:solidFill>
                <a:latin typeface="Calibri"/>
              </a:rPr>
              <a:t>OPERATING 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96112"/>
            <a:ext cx="10911535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4000" b="1" i="0">
                <a:solidFill>
                  <a:srgbClr val="182030"/>
                </a:solidFill>
                <a:latin typeface="Calibri"/>
              </a:rPr>
              <a:t>Coupling, without the INDI panel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743200"/>
            <a:ext cx="5029200" cy="3657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384048" indent="-384048">
              <a:lnSpc>
                <a:spcPct val="112000"/>
              </a:lnSpc>
              <a:spcBef>
                <a:spcPts val="0"/>
              </a:spcBef>
              <a:spcAft>
                <a:spcPts val="3400"/>
              </a:spcAft>
            </a:pPr>
            <a:r>
              <a:rPr sz="2500" b="1" i="0">
                <a:solidFill>
                  <a:srgbClr val="4EA8DE"/>
                </a:solidFill>
                <a:latin typeface="Calibri"/>
              </a:rPr>
              <a:t>▸  </a:t>
            </a:r>
            <a:r>
              <a:rPr sz="2500" b="0" i="0">
                <a:solidFill>
                  <a:srgbClr val="182030"/>
                </a:solidFill>
                <a:latin typeface="Calibri"/>
              </a:rPr>
              <a:t>Quick Actions — one-shots</a:t>
            </a:r>
          </a:p>
          <a:p>
            <a:pPr marL="384048" indent="-384048">
              <a:lnSpc>
                <a:spcPct val="112000"/>
              </a:lnSpc>
              <a:spcBef>
                <a:spcPts val="0"/>
              </a:spcBef>
              <a:spcAft>
                <a:spcPts val="3400"/>
              </a:spcAft>
            </a:pPr>
            <a:r>
              <a:rPr sz="2500" b="1" i="0">
                <a:solidFill>
                  <a:srgbClr val="4EA8DE"/>
                </a:solidFill>
                <a:latin typeface="Calibri"/>
              </a:rPr>
              <a:t>▸  </a:t>
            </a:r>
            <a:r>
              <a:rPr sz="2500" b="0" i="0">
                <a:solidFill>
                  <a:srgbClr val="182030"/>
                </a:solidFill>
                <a:latin typeface="Calibri"/>
              </a:rPr>
              <a:t>Coupling presets — one click</a:t>
            </a:r>
          </a:p>
          <a:p>
            <a:pPr marL="384048" indent="-384048">
              <a:lnSpc>
                <a:spcPct val="112000"/>
              </a:lnSpc>
              <a:spcBef>
                <a:spcPts val="0"/>
              </a:spcBef>
              <a:spcAft>
                <a:spcPts val="3400"/>
              </a:spcAft>
            </a:pPr>
            <a:r>
              <a:rPr sz="2500" b="1" i="0">
                <a:solidFill>
                  <a:srgbClr val="4EA8DE"/>
                </a:solidFill>
                <a:latin typeface="Calibri"/>
              </a:rPr>
              <a:t>▸  </a:t>
            </a:r>
            <a:r>
              <a:rPr sz="2500" b="0" i="0">
                <a:solidFill>
                  <a:srgbClr val="182030"/>
                </a:solidFill>
                <a:latin typeface="Calibri"/>
              </a:rPr>
              <a:t>Settings — set once, hidden</a:t>
            </a:r>
          </a:p>
        </p:txBody>
      </p:sp>
      <p:pic>
        <p:nvPicPr>
          <p:cNvPr id="7" name="Picture 6" descr="cc_mount_bridge_coupl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84288" y="1920240"/>
            <a:ext cx="6307406" cy="4892040"/>
          </a:xfrm>
          <a:prstGeom prst="rect">
            <a:avLst/>
          </a:prstGeom>
          <a:ln w="12700">
            <a:solidFill>
              <a:srgbClr val="D8E0EC"/>
            </a:solidFill>
          </a:ln>
          <a:effectLst>
            <a:outerShdw blurRad="90000" dist="34000" dir="5400000" rotWithShape="0">
              <a:srgbClr val="0B1026">
                <a:alpha val="20000"/>
              </a:srgbClr>
            </a:outerShdw>
          </a:effectLst>
        </p:spPr>
      </p:pic>
      <p:sp>
        <p:nvSpPr>
          <p:cNvPr id="8" name="TextBox 7"/>
          <p:cNvSpPr txBox="1"/>
          <p:nvPr/>
        </p:nvSpPr>
        <p:spPr>
          <a:xfrm>
            <a:off x="640080" y="6400800"/>
            <a:ext cx="10911535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5C677B"/>
                </a:solidFill>
                <a:latin typeface="Calibri"/>
              </a:rPr>
              <a:t>Part 2 · Control Center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0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10813964" y="1433716"/>
            <a:ext cx="18288" cy="1828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6540832" y="2339509"/>
            <a:ext cx="41148" cy="4114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11952580" y="4603906"/>
            <a:ext cx="41148" cy="4114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3524083" y="2371780"/>
            <a:ext cx="18288" cy="1828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6655919" y="1082272"/>
            <a:ext cx="18288" cy="1828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3529540" y="5513190"/>
            <a:ext cx="18288" cy="1828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11635393" y="5010227"/>
            <a:ext cx="41148" cy="4114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3045885" y="1342752"/>
            <a:ext cx="18288" cy="1828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6442537" y="5850360"/>
            <a:ext cx="18288" cy="1828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>
            <a:off x="9504796" y="4297371"/>
            <a:ext cx="41148" cy="4114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5246056" y="4835964"/>
            <a:ext cx="41148" cy="4114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>
            <a:off x="4063057" y="1764569"/>
            <a:ext cx="41148" cy="4114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Oval 14"/>
          <p:cNvSpPr/>
          <p:nvPr/>
        </p:nvSpPr>
        <p:spPr>
          <a:xfrm>
            <a:off x="8657567" y="4081412"/>
            <a:ext cx="18288" cy="1828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Oval 15"/>
          <p:cNvSpPr/>
          <p:nvPr/>
        </p:nvSpPr>
        <p:spPr>
          <a:xfrm>
            <a:off x="3154077" y="6653036"/>
            <a:ext cx="27432" cy="27432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Oval 16"/>
          <p:cNvSpPr/>
          <p:nvPr/>
        </p:nvSpPr>
        <p:spPr>
          <a:xfrm>
            <a:off x="6694828" y="1400519"/>
            <a:ext cx="41148" cy="4114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Oval 17"/>
          <p:cNvSpPr/>
          <p:nvPr/>
        </p:nvSpPr>
        <p:spPr>
          <a:xfrm>
            <a:off x="8455365" y="1355690"/>
            <a:ext cx="41148" cy="4114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Oval 18"/>
          <p:cNvSpPr/>
          <p:nvPr/>
        </p:nvSpPr>
        <p:spPr>
          <a:xfrm>
            <a:off x="11495049" y="4176220"/>
            <a:ext cx="41148" cy="4114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Oval 19"/>
          <p:cNvSpPr/>
          <p:nvPr/>
        </p:nvSpPr>
        <p:spPr>
          <a:xfrm>
            <a:off x="6961658" y="4872861"/>
            <a:ext cx="27432" cy="27432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Oval 20"/>
          <p:cNvSpPr/>
          <p:nvPr/>
        </p:nvSpPr>
        <p:spPr>
          <a:xfrm>
            <a:off x="11435773" y="1376793"/>
            <a:ext cx="41148" cy="4114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Oval 21"/>
          <p:cNvSpPr/>
          <p:nvPr/>
        </p:nvSpPr>
        <p:spPr>
          <a:xfrm>
            <a:off x="7884423" y="6228358"/>
            <a:ext cx="27432" cy="27432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Oval 22"/>
          <p:cNvSpPr/>
          <p:nvPr/>
        </p:nvSpPr>
        <p:spPr>
          <a:xfrm>
            <a:off x="6205931" y="3788703"/>
            <a:ext cx="41148" cy="4114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Oval 23"/>
          <p:cNvSpPr/>
          <p:nvPr/>
        </p:nvSpPr>
        <p:spPr>
          <a:xfrm>
            <a:off x="7197269" y="519474"/>
            <a:ext cx="18288" cy="1828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Oval 24"/>
          <p:cNvSpPr/>
          <p:nvPr/>
        </p:nvSpPr>
        <p:spPr>
          <a:xfrm>
            <a:off x="5122269" y="1887607"/>
            <a:ext cx="18288" cy="1828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Oval 25"/>
          <p:cNvSpPr/>
          <p:nvPr/>
        </p:nvSpPr>
        <p:spPr>
          <a:xfrm>
            <a:off x="1753087" y="6389946"/>
            <a:ext cx="41148" cy="4114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Oval 26"/>
          <p:cNvSpPr/>
          <p:nvPr/>
        </p:nvSpPr>
        <p:spPr>
          <a:xfrm>
            <a:off x="3598589" y="6539618"/>
            <a:ext cx="27432" cy="27432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Oval 27"/>
          <p:cNvSpPr/>
          <p:nvPr/>
        </p:nvSpPr>
        <p:spPr>
          <a:xfrm>
            <a:off x="3410040" y="6230378"/>
            <a:ext cx="27432" cy="27432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Oval 28"/>
          <p:cNvSpPr/>
          <p:nvPr/>
        </p:nvSpPr>
        <p:spPr>
          <a:xfrm>
            <a:off x="11417442" y="1262434"/>
            <a:ext cx="18288" cy="1828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Oval 29"/>
          <p:cNvSpPr/>
          <p:nvPr/>
        </p:nvSpPr>
        <p:spPr>
          <a:xfrm>
            <a:off x="6213232" y="923503"/>
            <a:ext cx="18288" cy="1828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Oval 30"/>
          <p:cNvSpPr/>
          <p:nvPr/>
        </p:nvSpPr>
        <p:spPr>
          <a:xfrm>
            <a:off x="4029252" y="6027698"/>
            <a:ext cx="18288" cy="1828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Oval 31"/>
          <p:cNvSpPr/>
          <p:nvPr/>
        </p:nvSpPr>
        <p:spPr>
          <a:xfrm>
            <a:off x="9752125" y="5640610"/>
            <a:ext cx="41148" cy="4114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Oval 32"/>
          <p:cNvSpPr/>
          <p:nvPr/>
        </p:nvSpPr>
        <p:spPr>
          <a:xfrm>
            <a:off x="4204001" y="5252233"/>
            <a:ext cx="18288" cy="1828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Oval 33"/>
          <p:cNvSpPr/>
          <p:nvPr/>
        </p:nvSpPr>
        <p:spPr>
          <a:xfrm>
            <a:off x="3316136" y="3696317"/>
            <a:ext cx="41148" cy="4114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Oval 34"/>
          <p:cNvSpPr/>
          <p:nvPr/>
        </p:nvSpPr>
        <p:spPr>
          <a:xfrm>
            <a:off x="6578912" y="4818249"/>
            <a:ext cx="41148" cy="4114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Oval 35"/>
          <p:cNvSpPr/>
          <p:nvPr/>
        </p:nvSpPr>
        <p:spPr>
          <a:xfrm>
            <a:off x="9511999" y="2158513"/>
            <a:ext cx="41148" cy="4114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Oval 36"/>
          <p:cNvSpPr/>
          <p:nvPr/>
        </p:nvSpPr>
        <p:spPr>
          <a:xfrm>
            <a:off x="4115062" y="3500481"/>
            <a:ext cx="18288" cy="1828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Oval 37"/>
          <p:cNvSpPr/>
          <p:nvPr/>
        </p:nvSpPr>
        <p:spPr>
          <a:xfrm>
            <a:off x="1808881" y="4301914"/>
            <a:ext cx="18288" cy="1828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Oval 38"/>
          <p:cNvSpPr/>
          <p:nvPr/>
        </p:nvSpPr>
        <p:spPr>
          <a:xfrm>
            <a:off x="11466781" y="811985"/>
            <a:ext cx="41148" cy="4114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Oval 39"/>
          <p:cNvSpPr/>
          <p:nvPr/>
        </p:nvSpPr>
        <p:spPr>
          <a:xfrm>
            <a:off x="2977704" y="6145470"/>
            <a:ext cx="41148" cy="4114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Oval 40"/>
          <p:cNvSpPr/>
          <p:nvPr/>
        </p:nvSpPr>
        <p:spPr>
          <a:xfrm>
            <a:off x="549130" y="1070952"/>
            <a:ext cx="41148" cy="4114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Oval 41"/>
          <p:cNvSpPr/>
          <p:nvPr/>
        </p:nvSpPr>
        <p:spPr>
          <a:xfrm>
            <a:off x="10155995" y="2746379"/>
            <a:ext cx="18288" cy="1828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Oval 42"/>
          <p:cNvSpPr/>
          <p:nvPr/>
        </p:nvSpPr>
        <p:spPr>
          <a:xfrm>
            <a:off x="11303854" y="6172950"/>
            <a:ext cx="18288" cy="1828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Oval 43"/>
          <p:cNvSpPr/>
          <p:nvPr/>
        </p:nvSpPr>
        <p:spPr>
          <a:xfrm>
            <a:off x="5318763" y="6021528"/>
            <a:ext cx="27432" cy="27432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Oval 44"/>
          <p:cNvSpPr/>
          <p:nvPr/>
        </p:nvSpPr>
        <p:spPr>
          <a:xfrm>
            <a:off x="11367987" y="3967330"/>
            <a:ext cx="41148" cy="4114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Oval 45"/>
          <p:cNvSpPr/>
          <p:nvPr/>
        </p:nvSpPr>
        <p:spPr>
          <a:xfrm>
            <a:off x="7345864" y="4414469"/>
            <a:ext cx="18288" cy="1828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640080" y="1920240"/>
            <a:ext cx="2743200" cy="1554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600" b="1" i="0">
                <a:solidFill>
                  <a:srgbClr val="FFB703"/>
                </a:solidFill>
                <a:latin typeface="Calibri"/>
              </a:rPr>
              <a:t>03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40080" y="3346704"/>
            <a:ext cx="10911535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4EA8DE"/>
                </a:solidFill>
                <a:latin typeface="Calibri"/>
              </a:rPr>
              <a:t>PART THREE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40080" y="3712463"/>
            <a:ext cx="10911535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5200" b="1" i="0">
                <a:solidFill>
                  <a:srgbClr val="FFFFFF"/>
                </a:solidFill>
                <a:latin typeface="Calibri"/>
              </a:rPr>
              <a:t>PF LX200 &amp; PF Mount Bridge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40080" y="4846320"/>
            <a:ext cx="9997135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0" i="0">
                <a:solidFill>
                  <a:srgbClr val="9AA6C2"/>
                </a:solidFill>
                <a:latin typeface="Calibri"/>
              </a:rPr>
              <a:t>PiFinder as a telescope, plus a generic bridge to any INDI mount.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640080" y="566928"/>
            <a:ext cx="155448" cy="155448"/>
          </a:xfrm>
          <a:prstGeom prst="ellipse">
            <a:avLst/>
          </a:prstGeom>
          <a:solidFill>
            <a:srgbClr val="FFB7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32688" y="530352"/>
            <a:ext cx="10618927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4EA8DE"/>
                </a:solidFill>
                <a:latin typeface="Calibri"/>
              </a:rPr>
              <a:t>THE INDI LAYER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96112"/>
            <a:ext cx="10911535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4000" b="1" i="0">
                <a:solidFill>
                  <a:srgbClr val="182030"/>
                </a:solidFill>
                <a:latin typeface="Calibri"/>
              </a:rPr>
              <a:t>Three building blocks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874519"/>
            <a:ext cx="4572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400" b="1" i="0">
                <a:solidFill>
                  <a:srgbClr val="9AA6C2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1856231"/>
            <a:ext cx="10972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 i="0">
                <a:solidFill>
                  <a:srgbClr val="182030"/>
                </a:solidFill>
                <a:latin typeface="Calibri"/>
              </a:rPr>
              <a:t>PiFinder LX200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2295144"/>
            <a:ext cx="1042416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0" i="0">
                <a:solidFill>
                  <a:srgbClr val="5C677B"/>
                </a:solidFill>
                <a:latin typeface="Calibri"/>
              </a:rPr>
              <a:t>INDI telescope. Reports the solved position; a GoTo becomes a push-to. Required.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898648"/>
            <a:ext cx="4572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400" b="1" i="0">
                <a:solidFill>
                  <a:srgbClr val="9AA6C2"/>
                </a:solidFill>
                <a:latin typeface="Calibr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2880360"/>
            <a:ext cx="10972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 i="0">
                <a:solidFill>
                  <a:srgbClr val="182030"/>
                </a:solidFill>
                <a:latin typeface="Calibri"/>
              </a:rPr>
              <a:t>PiFinder Mount Bridge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3319272"/>
            <a:ext cx="1042416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0" i="0">
                <a:solidFill>
                  <a:srgbClr val="5C677B"/>
                </a:solidFill>
                <a:latin typeface="Calibri"/>
              </a:rPr>
              <a:t>Optional. Snoops PiFinder + the mount and couples them. Generic INDI only.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922776"/>
            <a:ext cx="4572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400" b="1" i="0">
                <a:solidFill>
                  <a:srgbClr val="9AA6C2"/>
                </a:solidFill>
                <a:latin typeface="Calibri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904488"/>
            <a:ext cx="10972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 i="0">
                <a:solidFill>
                  <a:srgbClr val="182030"/>
                </a:solidFill>
                <a:latin typeface="Calibri"/>
              </a:rPr>
              <a:t>Your mount’s driver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4343400"/>
            <a:ext cx="1042416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0" i="0">
                <a:solidFill>
                  <a:srgbClr val="5C677B"/>
                </a:solidFill>
                <a:latin typeface="Calibri"/>
              </a:rPr>
              <a:t>Not ours — whatever your mount already uses. Only for a motorised mount.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4983480"/>
            <a:ext cx="10911535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 i="0">
                <a:solidFill>
                  <a:srgbClr val="5C677B"/>
                </a:solidFill>
                <a:latin typeface="Calibri"/>
              </a:rPr>
              <a:t>The Mount Bridge status row — the three, wired together: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0" y="5285232"/>
            <a:ext cx="12191695" cy="1572768"/>
          </a:xfrm>
          <a:prstGeom prst="roundRect">
            <a:avLst>
              <a:gd name="adj" fmla="val 4500"/>
            </a:avLst>
          </a:prstGeom>
          <a:solidFill>
            <a:srgbClr val="0B1026"/>
          </a:solidFill>
          <a:ln w="12700">
            <a:solidFill>
              <a:srgbClr val="0B10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7" name="Picture 16" descr="badge_mb_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9527" y="5486400"/>
            <a:ext cx="9692640" cy="1179844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640080" y="566928"/>
            <a:ext cx="155448" cy="155448"/>
          </a:xfrm>
          <a:prstGeom prst="ellipse">
            <a:avLst/>
          </a:prstGeom>
          <a:solidFill>
            <a:srgbClr val="FFB7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32688" y="530352"/>
            <a:ext cx="10618927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4EA8DE"/>
                </a:solidFill>
                <a:latin typeface="Calibri"/>
              </a:rPr>
              <a:t>THE TELESCOPE DRIVER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96112"/>
            <a:ext cx="10911535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4000" b="1" i="0">
                <a:solidFill>
                  <a:srgbClr val="182030"/>
                </a:solidFill>
                <a:latin typeface="Calibri"/>
              </a:rPr>
              <a:t>PiFinder LX200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79" y="1828800"/>
            <a:ext cx="11449139" cy="131166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384048" indent="-384048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2100" b="1" i="0" dirty="0">
                <a:solidFill>
                  <a:srgbClr val="4EA8DE"/>
                </a:solidFill>
                <a:latin typeface="Calibri"/>
              </a:rPr>
              <a:t>▸  </a:t>
            </a:r>
            <a:r>
              <a:rPr sz="2100" b="1" i="0" dirty="0">
                <a:solidFill>
                  <a:srgbClr val="182030"/>
                </a:solidFill>
                <a:latin typeface="Calibri"/>
              </a:rPr>
              <a:t>Talks LX200 </a:t>
            </a:r>
            <a:r>
              <a:rPr sz="2100" b="0" i="0" dirty="0">
                <a:solidFill>
                  <a:srgbClr val="182030"/>
                </a:solidFill>
                <a:latin typeface="Calibri"/>
              </a:rPr>
              <a:t>to </a:t>
            </a:r>
            <a:r>
              <a:rPr sz="2100" b="0" i="0" dirty="0" err="1">
                <a:solidFill>
                  <a:srgbClr val="182030"/>
                </a:solidFill>
                <a:latin typeface="Calibri"/>
              </a:rPr>
              <a:t>PiFinder’s</a:t>
            </a:r>
            <a:r>
              <a:rPr sz="2100" b="0" i="0" dirty="0">
                <a:solidFill>
                  <a:srgbClr val="182030"/>
                </a:solidFill>
                <a:latin typeface="Calibri"/>
              </a:rPr>
              <a:t> </a:t>
            </a:r>
            <a:r>
              <a:rPr sz="2100" b="0" i="0" dirty="0" err="1">
                <a:solidFill>
                  <a:srgbClr val="182030"/>
                </a:solidFill>
                <a:latin typeface="Calibri"/>
              </a:rPr>
              <a:t>pos_server.py</a:t>
            </a:r>
            <a:r>
              <a:rPr sz="2100" b="0" i="0" dirty="0">
                <a:solidFill>
                  <a:srgbClr val="182030"/>
                </a:solidFill>
                <a:latin typeface="Calibri"/>
              </a:rPr>
              <a:t> (TCP 4030).</a:t>
            </a:r>
          </a:p>
          <a:p>
            <a:pPr marL="384048" indent="-384048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2100" b="1" i="0" dirty="0">
                <a:solidFill>
                  <a:srgbClr val="4EA8DE"/>
                </a:solidFill>
                <a:latin typeface="Calibri"/>
              </a:rPr>
              <a:t>▸  </a:t>
            </a:r>
            <a:r>
              <a:rPr sz="2100" b="1" i="0" dirty="0">
                <a:solidFill>
                  <a:srgbClr val="182030"/>
                </a:solidFill>
                <a:latin typeface="Calibri"/>
              </a:rPr>
              <a:t>Reports the solved position </a:t>
            </a:r>
            <a:r>
              <a:rPr sz="2100" b="0" i="0" dirty="0">
                <a:solidFill>
                  <a:srgbClr val="182030"/>
                </a:solidFill>
                <a:latin typeface="Calibri"/>
              </a:rPr>
              <a:t>each poll; a </a:t>
            </a:r>
            <a:r>
              <a:rPr sz="2100" b="0" i="0" dirty="0" err="1">
                <a:solidFill>
                  <a:srgbClr val="182030"/>
                </a:solidFill>
                <a:latin typeface="Calibri"/>
              </a:rPr>
              <a:t>GoTo</a:t>
            </a:r>
            <a:r>
              <a:rPr sz="2100" b="0" i="0" dirty="0">
                <a:solidFill>
                  <a:srgbClr val="182030"/>
                </a:solidFill>
                <a:latin typeface="Calibri"/>
              </a:rPr>
              <a:t> is only a push-to.</a:t>
            </a:r>
          </a:p>
          <a:p>
            <a:pPr marL="384048" indent="-384048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2100" b="1" i="0" dirty="0">
                <a:solidFill>
                  <a:srgbClr val="4EA8DE"/>
                </a:solidFill>
                <a:latin typeface="Calibri"/>
              </a:rPr>
              <a:t>▸  </a:t>
            </a:r>
            <a:r>
              <a:rPr sz="2100" b="1" i="0" dirty="0">
                <a:solidFill>
                  <a:srgbClr val="182030"/>
                </a:solidFill>
                <a:latin typeface="Calibri"/>
              </a:rPr>
              <a:t>No Sync </a:t>
            </a:r>
            <a:r>
              <a:rPr sz="2100" b="0" i="0" dirty="0">
                <a:solidFill>
                  <a:srgbClr val="182030"/>
                </a:solidFill>
                <a:latin typeface="Calibri"/>
              </a:rPr>
              <a:t>— </a:t>
            </a:r>
            <a:r>
              <a:rPr sz="2100" b="0" i="0" dirty="0" err="1">
                <a:solidFill>
                  <a:srgbClr val="182030"/>
                </a:solidFill>
                <a:latin typeface="Calibri"/>
              </a:rPr>
              <a:t>PiFinder</a:t>
            </a:r>
            <a:r>
              <a:rPr sz="2100" b="0" i="0" dirty="0">
                <a:solidFill>
                  <a:srgbClr val="182030"/>
                </a:solidFill>
                <a:latin typeface="Calibri"/>
              </a:rPr>
              <a:t> measures the truth every frame.</a:t>
            </a:r>
          </a:p>
        </p:txBody>
      </p:sp>
      <p:pic>
        <p:nvPicPr>
          <p:cNvPr id="7" name="Picture 6" descr="lx200_ons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59280" y="3231909"/>
            <a:ext cx="10332720" cy="3077451"/>
          </a:xfrm>
          <a:prstGeom prst="rect">
            <a:avLst/>
          </a:prstGeom>
          <a:ln w="12700">
            <a:solidFill>
              <a:srgbClr val="D8E0EC"/>
            </a:solidFill>
          </a:ln>
          <a:effectLst>
            <a:outerShdw blurRad="90000" dist="34000" dir="5400000" rotWithShape="0">
              <a:srgbClr val="0B1026">
                <a:alpha val="20000"/>
              </a:srgbClr>
            </a:outerShdw>
          </a:effectLst>
        </p:spPr>
      </p:pic>
      <p:sp>
        <p:nvSpPr>
          <p:cNvPr id="8" name="TextBox 7"/>
          <p:cNvSpPr txBox="1"/>
          <p:nvPr/>
        </p:nvSpPr>
        <p:spPr>
          <a:xfrm>
            <a:off x="640080" y="6400800"/>
            <a:ext cx="10911535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5C677B"/>
                </a:solidFill>
                <a:latin typeface="Calibri"/>
              </a:rPr>
              <a:t>Part 3 · INDI Control Panel — On Set: Track / Slew, no Sync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305" y="310896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640080" y="566928"/>
            <a:ext cx="155448" cy="155448"/>
          </a:xfrm>
          <a:prstGeom prst="ellipse">
            <a:avLst/>
          </a:prstGeom>
          <a:solidFill>
            <a:srgbClr val="FFB7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32688" y="530352"/>
            <a:ext cx="10618927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4EA8DE"/>
                </a:solidFill>
                <a:latin typeface="Calibri"/>
              </a:rPr>
              <a:t>ONE PROPERTY, FOUR POSITIONS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96112"/>
            <a:ext cx="10911535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4000" b="1" i="0">
                <a:solidFill>
                  <a:srgbClr val="182030"/>
                </a:solidFill>
                <a:latin typeface="Calibri"/>
              </a:rPr>
              <a:t>The Coupling Dial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286000"/>
            <a:ext cx="4572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400" b="1" i="0">
                <a:solidFill>
                  <a:srgbClr val="9AA6C2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286000"/>
            <a:ext cx="34747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400"/>
              </a:spcAft>
            </a:pPr>
            <a:r>
              <a:rPr sz="2100" b="1" i="0">
                <a:solidFill>
                  <a:srgbClr val="182030"/>
                </a:solidFill>
                <a:latin typeface="Calibri"/>
              </a:rPr>
              <a:t>Off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2688336"/>
            <a:ext cx="35661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0" i="0">
                <a:solidFill>
                  <a:srgbClr val="5C677B"/>
                </a:solidFill>
                <a:latin typeface="Calibri"/>
              </a:rPr>
              <a:t>pure push-to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337560"/>
            <a:ext cx="4572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400" b="1" i="0">
                <a:solidFill>
                  <a:srgbClr val="9AA6C2"/>
                </a:solidFill>
                <a:latin typeface="Calibr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3337560"/>
            <a:ext cx="34747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400"/>
              </a:spcAft>
            </a:pPr>
            <a:r>
              <a:rPr sz="2100" b="1" i="0">
                <a:solidFill>
                  <a:srgbClr val="182030"/>
                </a:solidFill>
                <a:latin typeface="Calibri"/>
              </a:rPr>
              <a:t>Verify / Alert only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3739896"/>
            <a:ext cx="35661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0" i="0">
                <a:solidFill>
                  <a:srgbClr val="5C677B"/>
                </a:solidFill>
                <a:latin typeface="Calibri"/>
              </a:rPr>
              <a:t>warn only, hands off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4389120"/>
            <a:ext cx="4572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400" b="1" i="0">
                <a:solidFill>
                  <a:srgbClr val="9AA6C2"/>
                </a:solidFill>
                <a:latin typeface="Calibri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4389120"/>
            <a:ext cx="34747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400"/>
              </a:spcAft>
            </a:pPr>
            <a:r>
              <a:rPr sz="2100" b="1" i="0">
                <a:solidFill>
                  <a:srgbClr val="182030"/>
                </a:solidFill>
                <a:latin typeface="Calibri"/>
              </a:rPr>
              <a:t>Auto-correct on drift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4791456"/>
            <a:ext cx="35661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0" i="0">
                <a:solidFill>
                  <a:srgbClr val="5C677B"/>
                </a:solidFill>
                <a:latin typeface="Calibri"/>
              </a:rPr>
              <a:t>Sync past threshold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5440679"/>
            <a:ext cx="4572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400" b="1" i="0">
                <a:solidFill>
                  <a:srgbClr val="9AA6C2"/>
                </a:solidFill>
                <a:latin typeface="Calibri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" y="5440679"/>
            <a:ext cx="34747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400"/>
              </a:spcAft>
            </a:pPr>
            <a:r>
              <a:rPr sz="2100" b="1" i="0">
                <a:solidFill>
                  <a:srgbClr val="182030"/>
                </a:solidFill>
                <a:latin typeface="Calibri"/>
              </a:rPr>
              <a:t>Goto-Forward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5843016"/>
            <a:ext cx="35661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0" i="0">
                <a:solidFill>
                  <a:srgbClr val="5C677B"/>
                </a:solidFill>
                <a:latin typeface="Calibri"/>
              </a:rPr>
              <a:t>real slew, then refine</a:t>
            </a:r>
          </a:p>
        </p:txBody>
      </p:sp>
      <p:pic>
        <p:nvPicPr>
          <p:cNvPr id="18" name="Picture 17" descr="cc_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39335" y="1705713"/>
            <a:ext cx="7452360" cy="3446574"/>
          </a:xfrm>
          <a:prstGeom prst="rect">
            <a:avLst/>
          </a:prstGeom>
          <a:ln w="12700">
            <a:solidFill>
              <a:srgbClr val="D8E0EC"/>
            </a:solidFill>
          </a:ln>
          <a:effectLst>
            <a:outerShdw blurRad="90000" dist="34000" dir="5400000" rotWithShape="0">
              <a:srgbClr val="0B1026">
                <a:alpha val="20000"/>
              </a:srgbClr>
            </a:outerShdw>
          </a:effectLst>
        </p:spPr>
      </p:pic>
      <p:sp>
        <p:nvSpPr>
          <p:cNvPr id="19" name="TextBox 18"/>
          <p:cNvSpPr txBox="1"/>
          <p:nvPr/>
        </p:nvSpPr>
        <p:spPr>
          <a:xfrm>
            <a:off x="4739335" y="5365063"/>
            <a:ext cx="74523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 i="0" dirty="0">
                <a:solidFill>
                  <a:srgbClr val="5C677B"/>
                </a:solidFill>
                <a:latin typeface="Calibri"/>
              </a:rPr>
              <a:t>The dial in the Control Center — </a:t>
            </a:r>
            <a:r>
              <a:rPr sz="1500" b="1" i="0" dirty="0">
                <a:solidFill>
                  <a:srgbClr val="182030"/>
                </a:solidFill>
                <a:latin typeface="Calibri"/>
              </a:rPr>
              <a:t>Decouple + the three presets.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6400800"/>
            <a:ext cx="10911535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5C677B"/>
                </a:solidFill>
                <a:latin typeface="Calibri"/>
              </a:rPr>
              <a:t>Part 3 · Auto-correct → Sync (any mount); Goto-Forward → Goto / Track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640080" y="566928"/>
            <a:ext cx="155448" cy="155448"/>
          </a:xfrm>
          <a:prstGeom prst="ellipse">
            <a:avLst/>
          </a:prstGeom>
          <a:solidFill>
            <a:srgbClr val="FFB7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32688" y="530352"/>
            <a:ext cx="10618927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4EA8DE"/>
                </a:solidFill>
                <a:latin typeface="Calibri"/>
              </a:rPr>
              <a:t>WORKS WITH ANY MOUNT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96112"/>
            <a:ext cx="10911535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4000" b="1" i="0">
                <a:solidFill>
                  <a:srgbClr val="182030"/>
                </a:solidFill>
                <a:latin typeface="Calibri"/>
              </a:rPr>
              <a:t>Generic INDI, nothing mount-specific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112471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0" i="0">
                <a:solidFill>
                  <a:srgbClr val="182030"/>
                </a:solidFill>
                <a:latin typeface="Calibri"/>
              </a:rPr>
              <a:t>Only </a:t>
            </a:r>
            <a:r>
              <a:rPr sz="2300" b="1" i="0">
                <a:solidFill>
                  <a:srgbClr val="1B2A4A"/>
                </a:solidFill>
                <a:latin typeface="Calibri"/>
              </a:rPr>
              <a:t>EQUATORIAL_EOD_COORD</a:t>
            </a:r>
            <a:r>
              <a:rPr sz="2300" b="0" i="0">
                <a:solidFill>
                  <a:srgbClr val="182030"/>
                </a:solidFill>
                <a:latin typeface="Calibri"/>
              </a:rPr>
              <a:t> + </a:t>
            </a:r>
            <a:r>
              <a:rPr sz="2300" b="1" i="0">
                <a:solidFill>
                  <a:srgbClr val="1B2A4A"/>
                </a:solidFill>
                <a:latin typeface="Calibri"/>
              </a:rPr>
              <a:t>ON_COORD_SET</a:t>
            </a:r>
            <a:r>
              <a:rPr sz="2300" b="0" i="0">
                <a:solidFill>
                  <a:srgbClr val="182030"/>
                </a:solidFill>
                <a:latin typeface="Calibri"/>
              </a:rPr>
              <a:t> — never a mount command.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487168"/>
            <a:ext cx="113385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100" b="1" i="0">
                <a:solidFill>
                  <a:srgbClr val="182030"/>
                </a:solidFill>
                <a:latin typeface="Calibri"/>
              </a:rPr>
              <a:t>Multi-Point Alignment (#191)</a:t>
            </a:r>
            <a:r>
              <a:rPr sz="2100" b="0" i="0">
                <a:solidFill>
                  <a:srgbClr val="5C677B"/>
                </a:solidFill>
                <a:latin typeface="Calibri"/>
              </a:rPr>
              <a:t>    ·    </a:t>
            </a:r>
            <a:r>
              <a:rPr sz="2100" b="1" i="0">
                <a:solidFill>
                  <a:srgbClr val="182030"/>
                </a:solidFill>
                <a:latin typeface="Calibri"/>
              </a:rPr>
              <a:t>Reposition detection</a:t>
            </a:r>
            <a:r>
              <a:rPr sz="2100" b="0" i="0">
                <a:solidFill>
                  <a:srgbClr val="5C677B"/>
                </a:solidFill>
                <a:latin typeface="Calibri"/>
              </a:rPr>
              <a:t>    ·    </a:t>
            </a:r>
            <a:r>
              <a:rPr sz="2100" b="1" i="0">
                <a:solidFill>
                  <a:srgbClr val="182030"/>
                </a:solidFill>
                <a:latin typeface="Calibri"/>
              </a:rPr>
              <a:t>Shadow Sync</a:t>
            </a:r>
          </a:p>
        </p:txBody>
      </p:sp>
      <p:pic>
        <p:nvPicPr>
          <p:cNvPr id="8" name="Picture 7" descr="kstars_both_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62400" y="3260834"/>
            <a:ext cx="8229600" cy="3606310"/>
          </a:xfrm>
          <a:prstGeom prst="rect">
            <a:avLst/>
          </a:prstGeom>
          <a:ln w="12700">
            <a:solidFill>
              <a:srgbClr val="D8E0EC"/>
            </a:solidFill>
          </a:ln>
          <a:effectLst>
            <a:outerShdw blurRad="90000" dist="34000" dir="5400000" rotWithShape="0">
              <a:srgbClr val="0B1026">
                <a:alpha val="20000"/>
              </a:srgbClr>
            </a:outerShdw>
          </a:effectLst>
        </p:spPr>
      </p:pic>
      <p:sp>
        <p:nvSpPr>
          <p:cNvPr id="9" name="TextBox 8"/>
          <p:cNvSpPr txBox="1"/>
          <p:nvPr/>
        </p:nvSpPr>
        <p:spPr>
          <a:xfrm>
            <a:off x="640080" y="6400800"/>
            <a:ext cx="2879297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 dirty="0">
                <a:solidFill>
                  <a:srgbClr val="5C677B"/>
                </a:solidFill>
                <a:latin typeface="Calibri"/>
              </a:rPr>
              <a:t>Part 3 · </a:t>
            </a:r>
            <a:r>
              <a:rPr sz="1200" b="0" i="0" dirty="0" err="1">
                <a:solidFill>
                  <a:srgbClr val="5C677B"/>
                </a:solidFill>
                <a:latin typeface="Calibri"/>
              </a:rPr>
              <a:t>PiFinder</a:t>
            </a:r>
            <a:r>
              <a:rPr sz="1200" b="0" i="0" dirty="0">
                <a:solidFill>
                  <a:srgbClr val="5C677B"/>
                </a:solidFill>
                <a:latin typeface="Calibri"/>
              </a:rPr>
              <a:t> + the mount, co-located on the </a:t>
            </a:r>
            <a:r>
              <a:rPr sz="1200" b="0" i="0" dirty="0" err="1">
                <a:solidFill>
                  <a:srgbClr val="5C677B"/>
                </a:solidFill>
                <a:latin typeface="Calibri"/>
              </a:rPr>
              <a:t>KStars</a:t>
            </a:r>
            <a:r>
              <a:rPr sz="1200" b="0" i="0" dirty="0">
                <a:solidFill>
                  <a:srgbClr val="5C677B"/>
                </a:solidFill>
                <a:latin typeface="Calibri"/>
              </a:rPr>
              <a:t> sky map — right-click either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0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1177564" y="3980765"/>
            <a:ext cx="27432" cy="27432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7594039" y="1298847"/>
            <a:ext cx="41148" cy="4114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2250056" y="2313098"/>
            <a:ext cx="18288" cy="1828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10250165" y="2916360"/>
            <a:ext cx="41148" cy="4114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8795611" y="5878939"/>
            <a:ext cx="41148" cy="4114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5284298" y="995945"/>
            <a:ext cx="27432" cy="27432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5245006" y="5796337"/>
            <a:ext cx="27432" cy="27432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5513293" y="1647040"/>
            <a:ext cx="27432" cy="27432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2321263" y="5308189"/>
            <a:ext cx="27432" cy="27432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>
            <a:off x="11302528" y="4402982"/>
            <a:ext cx="41148" cy="4114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5958677" y="4430192"/>
            <a:ext cx="18288" cy="1828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>
            <a:off x="5053370" y="1094901"/>
            <a:ext cx="27432" cy="27432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Oval 14"/>
          <p:cNvSpPr/>
          <p:nvPr/>
        </p:nvSpPr>
        <p:spPr>
          <a:xfrm>
            <a:off x="5628790" y="2588655"/>
            <a:ext cx="41148" cy="4114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Oval 15"/>
          <p:cNvSpPr/>
          <p:nvPr/>
        </p:nvSpPr>
        <p:spPr>
          <a:xfrm>
            <a:off x="10948166" y="195478"/>
            <a:ext cx="18288" cy="1828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Oval 16"/>
          <p:cNvSpPr/>
          <p:nvPr/>
        </p:nvSpPr>
        <p:spPr>
          <a:xfrm>
            <a:off x="10465260" y="5498247"/>
            <a:ext cx="41148" cy="4114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Oval 17"/>
          <p:cNvSpPr/>
          <p:nvPr/>
        </p:nvSpPr>
        <p:spPr>
          <a:xfrm>
            <a:off x="3213889" y="3846789"/>
            <a:ext cx="41148" cy="4114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Oval 18"/>
          <p:cNvSpPr/>
          <p:nvPr/>
        </p:nvSpPr>
        <p:spPr>
          <a:xfrm>
            <a:off x="1934890" y="6677993"/>
            <a:ext cx="41148" cy="4114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Oval 19"/>
          <p:cNvSpPr/>
          <p:nvPr/>
        </p:nvSpPr>
        <p:spPr>
          <a:xfrm>
            <a:off x="2359929" y="1494745"/>
            <a:ext cx="27432" cy="27432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Oval 20"/>
          <p:cNvSpPr/>
          <p:nvPr/>
        </p:nvSpPr>
        <p:spPr>
          <a:xfrm>
            <a:off x="2499622" y="6253745"/>
            <a:ext cx="41148" cy="4114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Oval 21"/>
          <p:cNvSpPr/>
          <p:nvPr/>
        </p:nvSpPr>
        <p:spPr>
          <a:xfrm>
            <a:off x="7896209" y="5419092"/>
            <a:ext cx="18288" cy="1828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Oval 22"/>
          <p:cNvSpPr/>
          <p:nvPr/>
        </p:nvSpPr>
        <p:spPr>
          <a:xfrm>
            <a:off x="2944581" y="3991111"/>
            <a:ext cx="41148" cy="4114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Oval 23"/>
          <p:cNvSpPr/>
          <p:nvPr/>
        </p:nvSpPr>
        <p:spPr>
          <a:xfrm>
            <a:off x="2308173" y="5332222"/>
            <a:ext cx="27432" cy="27432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Oval 24"/>
          <p:cNvSpPr/>
          <p:nvPr/>
        </p:nvSpPr>
        <p:spPr>
          <a:xfrm>
            <a:off x="4613487" y="2745968"/>
            <a:ext cx="18288" cy="1828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Oval 25"/>
          <p:cNvSpPr/>
          <p:nvPr/>
        </p:nvSpPr>
        <p:spPr>
          <a:xfrm>
            <a:off x="10405667" y="5207301"/>
            <a:ext cx="41148" cy="4114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Oval 26"/>
          <p:cNvSpPr/>
          <p:nvPr/>
        </p:nvSpPr>
        <p:spPr>
          <a:xfrm>
            <a:off x="5530073" y="2681926"/>
            <a:ext cx="27432" cy="27432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Oval 27"/>
          <p:cNvSpPr/>
          <p:nvPr/>
        </p:nvSpPr>
        <p:spPr>
          <a:xfrm>
            <a:off x="7220318" y="1921542"/>
            <a:ext cx="27432" cy="27432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Oval 28"/>
          <p:cNvSpPr/>
          <p:nvPr/>
        </p:nvSpPr>
        <p:spPr>
          <a:xfrm>
            <a:off x="11556497" y="2689944"/>
            <a:ext cx="18288" cy="1828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Oval 29"/>
          <p:cNvSpPr/>
          <p:nvPr/>
        </p:nvSpPr>
        <p:spPr>
          <a:xfrm>
            <a:off x="4457696" y="4913259"/>
            <a:ext cx="41148" cy="4114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Oval 30"/>
          <p:cNvSpPr/>
          <p:nvPr/>
        </p:nvSpPr>
        <p:spPr>
          <a:xfrm>
            <a:off x="10973844" y="4806863"/>
            <a:ext cx="18288" cy="1828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Oval 31"/>
          <p:cNvSpPr/>
          <p:nvPr/>
        </p:nvSpPr>
        <p:spPr>
          <a:xfrm>
            <a:off x="7901987" y="2689385"/>
            <a:ext cx="18288" cy="1828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Oval 32"/>
          <p:cNvSpPr/>
          <p:nvPr/>
        </p:nvSpPr>
        <p:spPr>
          <a:xfrm>
            <a:off x="1131939" y="5826258"/>
            <a:ext cx="18288" cy="1828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Oval 33"/>
          <p:cNvSpPr/>
          <p:nvPr/>
        </p:nvSpPr>
        <p:spPr>
          <a:xfrm>
            <a:off x="1033038" y="3569523"/>
            <a:ext cx="27432" cy="27432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Oval 34"/>
          <p:cNvSpPr/>
          <p:nvPr/>
        </p:nvSpPr>
        <p:spPr>
          <a:xfrm>
            <a:off x="4541440" y="2171174"/>
            <a:ext cx="18288" cy="1828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Oval 35"/>
          <p:cNvSpPr/>
          <p:nvPr/>
        </p:nvSpPr>
        <p:spPr>
          <a:xfrm>
            <a:off x="8050902" y="1078677"/>
            <a:ext cx="18288" cy="1828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Oval 36"/>
          <p:cNvSpPr/>
          <p:nvPr/>
        </p:nvSpPr>
        <p:spPr>
          <a:xfrm>
            <a:off x="7035708" y="1970891"/>
            <a:ext cx="18288" cy="1828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Oval 37"/>
          <p:cNvSpPr/>
          <p:nvPr/>
        </p:nvSpPr>
        <p:spPr>
          <a:xfrm>
            <a:off x="10614162" y="4408705"/>
            <a:ext cx="18288" cy="1828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Oval 38"/>
          <p:cNvSpPr/>
          <p:nvPr/>
        </p:nvSpPr>
        <p:spPr>
          <a:xfrm>
            <a:off x="11529273" y="1838394"/>
            <a:ext cx="41148" cy="4114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Oval 39"/>
          <p:cNvSpPr/>
          <p:nvPr/>
        </p:nvSpPr>
        <p:spPr>
          <a:xfrm>
            <a:off x="8891253" y="6424330"/>
            <a:ext cx="41148" cy="4114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Oval 40"/>
          <p:cNvSpPr/>
          <p:nvPr/>
        </p:nvSpPr>
        <p:spPr>
          <a:xfrm>
            <a:off x="243585" y="5141615"/>
            <a:ext cx="18288" cy="1828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Oval 41"/>
          <p:cNvSpPr/>
          <p:nvPr/>
        </p:nvSpPr>
        <p:spPr>
          <a:xfrm>
            <a:off x="6326283" y="449637"/>
            <a:ext cx="18288" cy="1828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Oval 42"/>
          <p:cNvSpPr/>
          <p:nvPr/>
        </p:nvSpPr>
        <p:spPr>
          <a:xfrm>
            <a:off x="11921459" y="6028759"/>
            <a:ext cx="27432" cy="27432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Oval 43"/>
          <p:cNvSpPr/>
          <p:nvPr/>
        </p:nvSpPr>
        <p:spPr>
          <a:xfrm>
            <a:off x="1985863" y="3829382"/>
            <a:ext cx="41148" cy="4114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Oval 44"/>
          <p:cNvSpPr/>
          <p:nvPr/>
        </p:nvSpPr>
        <p:spPr>
          <a:xfrm>
            <a:off x="2982241" y="2013696"/>
            <a:ext cx="41148" cy="4114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Oval 45"/>
          <p:cNvSpPr/>
          <p:nvPr/>
        </p:nvSpPr>
        <p:spPr>
          <a:xfrm>
            <a:off x="8764379" y="180515"/>
            <a:ext cx="41148" cy="4114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640080" y="1920240"/>
            <a:ext cx="2743200" cy="1554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600" b="1" i="0">
                <a:solidFill>
                  <a:srgbClr val="FFB703"/>
                </a:solidFill>
                <a:latin typeface="Calibri"/>
              </a:rPr>
              <a:t>04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40080" y="3346704"/>
            <a:ext cx="10911535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4EA8DE"/>
                </a:solidFill>
                <a:latin typeface="Calibri"/>
              </a:rPr>
              <a:t>PART FOUR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40080" y="3712463"/>
            <a:ext cx="10911535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5200" b="1" i="0">
                <a:solidFill>
                  <a:srgbClr val="FFFFFF"/>
                </a:solidFill>
                <a:latin typeface="Calibri"/>
              </a:rPr>
              <a:t>PF Simulator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40080" y="4846320"/>
            <a:ext cx="9997135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0" i="0">
                <a:solidFill>
                  <a:srgbClr val="9AA6C2"/>
                </a:solidFill>
                <a:latin typeface="Calibri"/>
              </a:rPr>
              <a:t>Test the Mount Bridge with no real mount and no clear sky.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640080" y="566928"/>
            <a:ext cx="155448" cy="155448"/>
          </a:xfrm>
          <a:prstGeom prst="ellipse">
            <a:avLst/>
          </a:prstGeom>
          <a:solidFill>
            <a:srgbClr val="FFB7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32688" y="530352"/>
            <a:ext cx="10618927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4EA8DE"/>
                </a:solidFill>
                <a:latin typeface="Calibri"/>
              </a:rPr>
              <a:t>HARDWARE-FREE TESTING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96112"/>
            <a:ext cx="10911535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4000" b="1" i="0">
                <a:solidFill>
                  <a:srgbClr val="182030"/>
                </a:solidFill>
                <a:latin typeface="Calibri"/>
              </a:rPr>
              <a:t>A mount side and a PiFinder side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0040" y="1783080"/>
            <a:ext cx="5715000" cy="457200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1965960"/>
            <a:ext cx="49377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 i="0">
                <a:solidFill>
                  <a:srgbClr val="182030"/>
                </a:solidFill>
                <a:latin typeface="Calibri"/>
              </a:rPr>
              <a:t>Mount side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542032"/>
            <a:ext cx="512064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2100" b="0" i="0">
                <a:solidFill>
                  <a:srgbClr val="5C677B"/>
                </a:solidFill>
                <a:latin typeface="Calibri"/>
              </a:rPr>
              <a:t>Stock INDI Telescope Simulator — Sync or GoTo like a real mount.</a:t>
            </a:r>
          </a:p>
        </p:txBody>
      </p:sp>
      <p:pic>
        <p:nvPicPr>
          <p:cNvPr id="9" name="Picture 8" descr="sim_mount_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59" y="3566160"/>
            <a:ext cx="5166360" cy="2260282"/>
          </a:xfrm>
          <a:prstGeom prst="rect">
            <a:avLst/>
          </a:prstGeom>
          <a:ln w="12700">
            <a:solidFill>
              <a:srgbClr val="D8E0EC"/>
            </a:solidFill>
          </a:ln>
          <a:effectLst>
            <a:outerShdw blurRad="90000" dist="34000" dir="5400000" rotWithShape="0">
              <a:srgbClr val="0B1026">
                <a:alpha val="20000"/>
              </a:srgbClr>
            </a:outerShdw>
          </a:effectLst>
        </p:spPr>
      </p:pic>
      <p:sp>
        <p:nvSpPr>
          <p:cNvPr id="10" name="Rounded Rectangle 9"/>
          <p:cNvSpPr/>
          <p:nvPr/>
        </p:nvSpPr>
        <p:spPr>
          <a:xfrm>
            <a:off x="6172200" y="1783080"/>
            <a:ext cx="5715000" cy="457200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492240" y="1965960"/>
            <a:ext cx="47548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 i="0">
                <a:solidFill>
                  <a:srgbClr val="182030"/>
                </a:solidFill>
                <a:latin typeface="Calibri"/>
              </a:rPr>
              <a:t>PiFinder side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2240" y="2542032"/>
            <a:ext cx="50292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384048" indent="-384048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2100" b="1" i="0">
                <a:solidFill>
                  <a:srgbClr val="4EA8DE"/>
                </a:solidFill>
                <a:latin typeface="Calibri"/>
              </a:rPr>
              <a:t>▸  </a:t>
            </a:r>
            <a:r>
              <a:rPr sz="2100" b="1" i="0">
                <a:solidFill>
                  <a:srgbClr val="182030"/>
                </a:solidFill>
                <a:latin typeface="Calibri"/>
              </a:rPr>
              <a:t>Simulator </a:t>
            </a:r>
            <a:r>
              <a:rPr sz="2100" b="0" i="0">
                <a:solidFill>
                  <a:srgbClr val="182030"/>
                </a:solidFill>
                <a:latin typeface="Calibri"/>
              </a:rPr>
              <a:t>— holds a settable RA/Dec.</a:t>
            </a:r>
          </a:p>
          <a:p>
            <a:pPr marL="384048" indent="-384048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2100" b="1" i="0">
                <a:solidFill>
                  <a:srgbClr val="4EA8DE"/>
                </a:solidFill>
                <a:latin typeface="Calibri"/>
              </a:rPr>
              <a:t>▸  </a:t>
            </a:r>
            <a:r>
              <a:rPr sz="2100" b="1" i="0">
                <a:solidFill>
                  <a:srgbClr val="182030"/>
                </a:solidFill>
                <a:latin typeface="Calibri"/>
              </a:rPr>
              <a:t>Truth Injector </a:t>
            </a:r>
            <a:r>
              <a:rPr sz="2100" b="0" i="0">
                <a:solidFill>
                  <a:srgbClr val="182030"/>
                </a:solidFill>
                <a:latin typeface="Calibri"/>
              </a:rPr>
              <a:t>— POSTs to /api/fake_solve.</a:t>
            </a:r>
          </a:p>
        </p:txBody>
      </p:sp>
      <p:pic>
        <p:nvPicPr>
          <p:cNvPr id="13" name="Picture 12" descr="sim_pf_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46520" y="3566160"/>
            <a:ext cx="5166360" cy="2441105"/>
          </a:xfrm>
          <a:prstGeom prst="rect">
            <a:avLst/>
          </a:prstGeom>
          <a:ln w="12700">
            <a:solidFill>
              <a:srgbClr val="D8E0EC"/>
            </a:solidFill>
          </a:ln>
          <a:effectLst>
            <a:outerShdw blurRad="90000" dist="34000" dir="5400000" rotWithShape="0">
              <a:srgbClr val="0B1026">
                <a:alpha val="20000"/>
              </a:srgbClr>
            </a:outerShdw>
          </a:effectLst>
        </p:spPr>
      </p:pic>
      <p:sp>
        <p:nvSpPr>
          <p:cNvPr id="14" name="TextBox 13"/>
          <p:cNvSpPr txBox="1"/>
          <p:nvPr/>
        </p:nvSpPr>
        <p:spPr>
          <a:xfrm>
            <a:off x="640080" y="6400800"/>
            <a:ext cx="10911535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5C677B"/>
                </a:solidFill>
                <a:latin typeface="Calibri"/>
              </a:rPr>
              <a:t>Part 4 · Simulator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640080" y="566928"/>
            <a:ext cx="155448" cy="155448"/>
          </a:xfrm>
          <a:prstGeom prst="ellipse">
            <a:avLst/>
          </a:prstGeom>
          <a:solidFill>
            <a:srgbClr val="FFB7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32688" y="530352"/>
            <a:ext cx="10618927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4EA8DE"/>
                </a:solidFill>
                <a:latin typeface="Calibri"/>
              </a:rPr>
              <a:t>BEHAVIOUR &amp; NEXT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96112"/>
            <a:ext cx="10911535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4000" b="1" i="0">
                <a:solidFill>
                  <a:srgbClr val="182030"/>
                </a:solidFill>
                <a:latin typeface="Calibri"/>
              </a:rPr>
              <a:t>Simulator details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103120"/>
            <a:ext cx="10972800" cy="3291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384048" indent="-384048">
              <a:lnSpc>
                <a:spcPct val="112000"/>
              </a:lnSpc>
              <a:spcBef>
                <a:spcPts val="0"/>
              </a:spcBef>
              <a:spcAft>
                <a:spcPts val="1800"/>
              </a:spcAft>
            </a:pPr>
            <a:r>
              <a:rPr sz="2500" b="1" i="0">
                <a:solidFill>
                  <a:srgbClr val="4EA8DE"/>
                </a:solidFill>
                <a:latin typeface="Calibri"/>
              </a:rPr>
              <a:t>▸  </a:t>
            </a:r>
            <a:r>
              <a:rPr sz="2500" b="1" i="0">
                <a:solidFill>
                  <a:srgbClr val="182030"/>
                </a:solidFill>
                <a:latin typeface="Calibri"/>
              </a:rPr>
              <a:t>Sync == Goto </a:t>
            </a:r>
            <a:r>
              <a:rPr sz="2500" b="0" i="0">
                <a:solidFill>
                  <a:srgbClr val="182030"/>
                </a:solidFill>
                <a:latin typeface="Calibri"/>
              </a:rPr>
              <a:t>— no motion to model; the RA/Dec just becomes the held value.</a:t>
            </a:r>
          </a:p>
          <a:p>
            <a:pPr marL="384048" indent="-384048">
              <a:lnSpc>
                <a:spcPct val="112000"/>
              </a:lnSpc>
              <a:spcBef>
                <a:spcPts val="0"/>
              </a:spcBef>
              <a:spcAft>
                <a:spcPts val="1800"/>
              </a:spcAft>
            </a:pPr>
            <a:r>
              <a:rPr sz="2500" b="1" i="0">
                <a:solidFill>
                  <a:srgbClr val="4EA8DE"/>
                </a:solidFill>
                <a:latin typeface="Calibri"/>
              </a:rPr>
              <a:t>▸  </a:t>
            </a:r>
            <a:r>
              <a:rPr sz="2500" b="1" i="0">
                <a:solidFill>
                  <a:srgbClr val="182030"/>
                </a:solidFill>
                <a:latin typeface="Calibri"/>
              </a:rPr>
              <a:t>Inject every cycle </a:t>
            </a:r>
            <a:r>
              <a:rPr sz="2500" b="0" i="0">
                <a:solidFill>
                  <a:srgbClr val="182030"/>
                </a:solidFill>
                <a:latin typeface="Calibri"/>
              </a:rPr>
              <a:t>— keeps PiFinder’s solve timestamp fresh.</a:t>
            </a:r>
          </a:p>
          <a:p>
            <a:pPr marL="384048" indent="-384048">
              <a:lnSpc>
                <a:spcPct val="112000"/>
              </a:lnSpc>
              <a:spcBef>
                <a:spcPts val="0"/>
              </a:spcBef>
              <a:spcAft>
                <a:spcPts val="1800"/>
              </a:spcAft>
            </a:pPr>
            <a:r>
              <a:rPr sz="2500" b="1" i="0">
                <a:solidFill>
                  <a:srgbClr val="4EA8DE"/>
                </a:solidFill>
                <a:latin typeface="Calibri"/>
              </a:rPr>
              <a:t>▸  </a:t>
            </a:r>
            <a:r>
              <a:rPr sz="2500" b="1" i="0">
                <a:solidFill>
                  <a:srgbClr val="182030"/>
                </a:solidFill>
                <a:latin typeface="Calibri"/>
              </a:rPr>
              <a:t>FOLLOW_MOUNT_DEVICE </a:t>
            </a:r>
            <a:r>
              <a:rPr sz="2500" b="0" i="0">
                <a:solidFill>
                  <a:srgbClr val="182030"/>
                </a:solidFill>
                <a:latin typeface="Calibri"/>
              </a:rPr>
              <a:t>(#239) — optionally dead-reckon along a mount’s slews.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486400"/>
            <a:ext cx="109728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 i="0">
                <a:solidFill>
                  <a:srgbClr val="182030"/>
                </a:solidFill>
                <a:latin typeface="Calibri"/>
              </a:rPr>
              <a:t>Next (v3.x): </a:t>
            </a:r>
            <a:r>
              <a:rPr sz="1800" b="0" i="0">
                <a:solidFill>
                  <a:srgbClr val="5C677B"/>
                </a:solidFill>
                <a:latin typeface="Calibri"/>
              </a:rPr>
              <a:t>render a GSC star field and run PiFinder’s real solver on it — issue #344.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00800"/>
            <a:ext cx="10911535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5C677B"/>
                </a:solidFill>
                <a:latin typeface="Calibri"/>
              </a:rPr>
              <a:t>Part 4 · Simulator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0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4527928" y="1691931"/>
            <a:ext cx="27432" cy="27432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3995779" y="4883865"/>
            <a:ext cx="27432" cy="27432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2598368" y="6233847"/>
            <a:ext cx="41148" cy="4114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9336783" y="5519907"/>
            <a:ext cx="41148" cy="4114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10067863" y="2027859"/>
            <a:ext cx="18288" cy="1828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8853279" y="2362237"/>
            <a:ext cx="27432" cy="27432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10639430" y="4430923"/>
            <a:ext cx="27432" cy="27432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11578983" y="5451444"/>
            <a:ext cx="27432" cy="27432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2984085" y="3426471"/>
            <a:ext cx="27432" cy="27432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>
            <a:off x="5787750" y="4000927"/>
            <a:ext cx="41148" cy="4114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7095360" y="510718"/>
            <a:ext cx="18288" cy="1828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>
            <a:off x="9144060" y="4234786"/>
            <a:ext cx="18288" cy="1828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Oval 14"/>
          <p:cNvSpPr/>
          <p:nvPr/>
        </p:nvSpPr>
        <p:spPr>
          <a:xfrm>
            <a:off x="9766430" y="808566"/>
            <a:ext cx="41148" cy="4114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Oval 15"/>
          <p:cNvSpPr/>
          <p:nvPr/>
        </p:nvSpPr>
        <p:spPr>
          <a:xfrm>
            <a:off x="5816976" y="3071703"/>
            <a:ext cx="27432" cy="27432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Oval 16"/>
          <p:cNvSpPr/>
          <p:nvPr/>
        </p:nvSpPr>
        <p:spPr>
          <a:xfrm>
            <a:off x="1186530" y="2643433"/>
            <a:ext cx="27432" cy="27432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Oval 17"/>
          <p:cNvSpPr/>
          <p:nvPr/>
        </p:nvSpPr>
        <p:spPr>
          <a:xfrm>
            <a:off x="7905143" y="4333642"/>
            <a:ext cx="27432" cy="27432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Oval 18"/>
          <p:cNvSpPr/>
          <p:nvPr/>
        </p:nvSpPr>
        <p:spPr>
          <a:xfrm>
            <a:off x="8314677" y="384484"/>
            <a:ext cx="18288" cy="1828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Oval 19"/>
          <p:cNvSpPr/>
          <p:nvPr/>
        </p:nvSpPr>
        <p:spPr>
          <a:xfrm>
            <a:off x="10662587" y="3482164"/>
            <a:ext cx="27432" cy="27432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Oval 20"/>
          <p:cNvSpPr/>
          <p:nvPr/>
        </p:nvSpPr>
        <p:spPr>
          <a:xfrm>
            <a:off x="8607058" y="4044897"/>
            <a:ext cx="18288" cy="1828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Oval 21"/>
          <p:cNvSpPr/>
          <p:nvPr/>
        </p:nvSpPr>
        <p:spPr>
          <a:xfrm>
            <a:off x="607315" y="1408474"/>
            <a:ext cx="27432" cy="27432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Oval 22"/>
          <p:cNvSpPr/>
          <p:nvPr/>
        </p:nvSpPr>
        <p:spPr>
          <a:xfrm>
            <a:off x="1418306" y="6393158"/>
            <a:ext cx="27432" cy="27432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Oval 23"/>
          <p:cNvSpPr/>
          <p:nvPr/>
        </p:nvSpPr>
        <p:spPr>
          <a:xfrm>
            <a:off x="7006047" y="2974239"/>
            <a:ext cx="18288" cy="1828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Oval 24"/>
          <p:cNvSpPr/>
          <p:nvPr/>
        </p:nvSpPr>
        <p:spPr>
          <a:xfrm>
            <a:off x="6231629" y="1519932"/>
            <a:ext cx="41148" cy="4114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Oval 25"/>
          <p:cNvSpPr/>
          <p:nvPr/>
        </p:nvSpPr>
        <p:spPr>
          <a:xfrm>
            <a:off x="970856" y="339175"/>
            <a:ext cx="41148" cy="4114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Oval 26"/>
          <p:cNvSpPr/>
          <p:nvPr/>
        </p:nvSpPr>
        <p:spPr>
          <a:xfrm>
            <a:off x="10465423" y="2914096"/>
            <a:ext cx="27432" cy="27432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Oval 27"/>
          <p:cNvSpPr/>
          <p:nvPr/>
        </p:nvSpPr>
        <p:spPr>
          <a:xfrm>
            <a:off x="2623740" y="1747782"/>
            <a:ext cx="18288" cy="1828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Oval 28"/>
          <p:cNvSpPr/>
          <p:nvPr/>
        </p:nvSpPr>
        <p:spPr>
          <a:xfrm>
            <a:off x="7404866" y="4464887"/>
            <a:ext cx="27432" cy="27432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Oval 29"/>
          <p:cNvSpPr/>
          <p:nvPr/>
        </p:nvSpPr>
        <p:spPr>
          <a:xfrm>
            <a:off x="3106271" y="3002840"/>
            <a:ext cx="41148" cy="4114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Oval 30"/>
          <p:cNvSpPr/>
          <p:nvPr/>
        </p:nvSpPr>
        <p:spPr>
          <a:xfrm>
            <a:off x="3300198" y="845846"/>
            <a:ext cx="27432" cy="27432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Oval 31"/>
          <p:cNvSpPr/>
          <p:nvPr/>
        </p:nvSpPr>
        <p:spPr>
          <a:xfrm>
            <a:off x="8486118" y="3487875"/>
            <a:ext cx="18288" cy="1828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Oval 32"/>
          <p:cNvSpPr/>
          <p:nvPr/>
        </p:nvSpPr>
        <p:spPr>
          <a:xfrm>
            <a:off x="2891607" y="3136744"/>
            <a:ext cx="27432" cy="27432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Oval 33"/>
          <p:cNvSpPr/>
          <p:nvPr/>
        </p:nvSpPr>
        <p:spPr>
          <a:xfrm>
            <a:off x="1280561" y="986693"/>
            <a:ext cx="18288" cy="1828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Oval 34"/>
          <p:cNvSpPr/>
          <p:nvPr/>
        </p:nvSpPr>
        <p:spPr>
          <a:xfrm>
            <a:off x="11645055" y="2840271"/>
            <a:ext cx="41148" cy="4114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Oval 35"/>
          <p:cNvSpPr/>
          <p:nvPr/>
        </p:nvSpPr>
        <p:spPr>
          <a:xfrm>
            <a:off x="8626712" y="2945847"/>
            <a:ext cx="41148" cy="4114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Oval 36"/>
          <p:cNvSpPr/>
          <p:nvPr/>
        </p:nvSpPr>
        <p:spPr>
          <a:xfrm>
            <a:off x="1245337" y="4721962"/>
            <a:ext cx="27432" cy="27432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Oval 37"/>
          <p:cNvSpPr/>
          <p:nvPr/>
        </p:nvSpPr>
        <p:spPr>
          <a:xfrm>
            <a:off x="649962" y="4612430"/>
            <a:ext cx="27432" cy="27432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Oval 38"/>
          <p:cNvSpPr/>
          <p:nvPr/>
        </p:nvSpPr>
        <p:spPr>
          <a:xfrm>
            <a:off x="6721871" y="5785193"/>
            <a:ext cx="18288" cy="1828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Oval 39"/>
          <p:cNvSpPr/>
          <p:nvPr/>
        </p:nvSpPr>
        <p:spPr>
          <a:xfrm>
            <a:off x="8933630" y="5318866"/>
            <a:ext cx="41148" cy="4114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Oval 40"/>
          <p:cNvSpPr/>
          <p:nvPr/>
        </p:nvSpPr>
        <p:spPr>
          <a:xfrm>
            <a:off x="4987097" y="1470930"/>
            <a:ext cx="41148" cy="4114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Oval 41"/>
          <p:cNvSpPr/>
          <p:nvPr/>
        </p:nvSpPr>
        <p:spPr>
          <a:xfrm>
            <a:off x="9489561" y="1999117"/>
            <a:ext cx="41148" cy="4114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Oval 42"/>
          <p:cNvSpPr/>
          <p:nvPr/>
        </p:nvSpPr>
        <p:spPr>
          <a:xfrm>
            <a:off x="11256631" y="6514295"/>
            <a:ext cx="41148" cy="4114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Oval 43"/>
          <p:cNvSpPr/>
          <p:nvPr/>
        </p:nvSpPr>
        <p:spPr>
          <a:xfrm>
            <a:off x="2773984" y="5778528"/>
            <a:ext cx="41148" cy="4114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Oval 44"/>
          <p:cNvSpPr/>
          <p:nvPr/>
        </p:nvSpPr>
        <p:spPr>
          <a:xfrm>
            <a:off x="6800633" y="6484964"/>
            <a:ext cx="41148" cy="4114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Oval 45"/>
          <p:cNvSpPr/>
          <p:nvPr/>
        </p:nvSpPr>
        <p:spPr>
          <a:xfrm>
            <a:off x="2057228" y="3149747"/>
            <a:ext cx="27432" cy="27432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640080" y="1920240"/>
            <a:ext cx="2743200" cy="1554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600" b="1" i="0">
                <a:solidFill>
                  <a:srgbClr val="FFB703"/>
                </a:solidFill>
                <a:latin typeface="Calibri"/>
              </a:rPr>
              <a:t>→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40080" y="3346704"/>
            <a:ext cx="10911535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4EA8DE"/>
                </a:solidFill>
                <a:latin typeface="Calibri"/>
              </a:rPr>
              <a:t>TAKEAWAY ONE · FOR PIFINDER DEVS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40080" y="3712463"/>
            <a:ext cx="10911535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5200" b="1" i="0">
                <a:solidFill>
                  <a:srgbClr val="FFFFFF"/>
                </a:solidFill>
                <a:latin typeface="Calibri"/>
              </a:rPr>
              <a:t>Where PFSM could send PRs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640080" y="566928"/>
            <a:ext cx="155448" cy="155448"/>
          </a:xfrm>
          <a:prstGeom prst="ellipse">
            <a:avLst/>
          </a:prstGeom>
          <a:solidFill>
            <a:srgbClr val="FFB7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32688" y="530352"/>
            <a:ext cx="10618927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4EA8DE"/>
                </a:solidFill>
                <a:latin typeface="Calibri"/>
              </a:rPr>
              <a:t>DOCS/UPSTREAM_PATCH_INVENTORY.MD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96112"/>
            <a:ext cx="10911535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4000" b="1" i="0">
                <a:solidFill>
                  <a:srgbClr val="182030"/>
                </a:solidFill>
                <a:latin typeface="Calibri"/>
              </a:rPr>
              <a:t>Patches that aren’t PFSM-specific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011680"/>
            <a:ext cx="11155680" cy="3840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384048" indent="-384048">
              <a:lnSpc>
                <a:spcPct val="112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1" i="0">
                <a:solidFill>
                  <a:srgbClr val="4EA8DE"/>
                </a:solidFill>
                <a:latin typeface="Calibri"/>
              </a:rPr>
              <a:t>▸  </a:t>
            </a:r>
            <a:r>
              <a:rPr sz="2100" b="1" i="0">
                <a:solidFill>
                  <a:srgbClr val="182030"/>
                </a:solidFill>
                <a:latin typeface="Calibri"/>
              </a:rPr>
              <a:t>Test Mode toggle + status readback </a:t>
            </a:r>
            <a:r>
              <a:rPr sz="2100" b="0" i="0">
                <a:solidFill>
                  <a:srgbClr val="182030"/>
                </a:solidFill>
                <a:latin typeface="Calibri"/>
              </a:rPr>
              <a:t>— a reliable API trigger (keypress sim was flaky).</a:t>
            </a:r>
          </a:p>
          <a:p>
            <a:pPr marL="384048" indent="-384048">
              <a:lnSpc>
                <a:spcPct val="112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1" i="0">
                <a:solidFill>
                  <a:srgbClr val="4EA8DE"/>
                </a:solidFill>
                <a:latin typeface="Calibri"/>
              </a:rPr>
              <a:t>▸  </a:t>
            </a:r>
            <a:r>
              <a:rPr sz="2100" b="1" i="0">
                <a:solidFill>
                  <a:srgbClr val="182030"/>
                </a:solidFill>
                <a:latin typeface="Calibri"/>
              </a:rPr>
              <a:t>Camera-process resilience </a:t>
            </a:r>
            <a:r>
              <a:rPr sz="2100" b="0" i="0">
                <a:solidFill>
                  <a:srgbClr val="182030"/>
                </a:solidFill>
                <a:latin typeface="Calibri"/>
              </a:rPr>
              <a:t>— fall back to the debug camera instead of crashing.</a:t>
            </a:r>
          </a:p>
          <a:p>
            <a:pPr marL="384048" indent="-384048">
              <a:lnSpc>
                <a:spcPct val="112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1" i="0">
                <a:solidFill>
                  <a:srgbClr val="4EA8DE"/>
                </a:solidFill>
                <a:latin typeface="Calibri"/>
              </a:rPr>
              <a:t>▸  </a:t>
            </a:r>
            <a:r>
              <a:rPr sz="2100" b="1" i="0">
                <a:solidFill>
                  <a:srgbClr val="182030"/>
                </a:solidFill>
                <a:latin typeface="Calibri"/>
              </a:rPr>
              <a:t>all_ips() </a:t>
            </a:r>
            <a:r>
              <a:rPr sz="2100" b="0" i="0">
                <a:solidFill>
                  <a:srgbClr val="182030"/>
                </a:solidFill>
                <a:latin typeface="Calibri"/>
              </a:rPr>
              <a:t>— show every network address, not just the default route.</a:t>
            </a:r>
          </a:p>
          <a:p>
            <a:pPr marL="384048" indent="-384048">
              <a:lnSpc>
                <a:spcPct val="112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1" i="0">
                <a:solidFill>
                  <a:srgbClr val="4EA8DE"/>
                </a:solidFill>
                <a:latin typeface="Calibri"/>
              </a:rPr>
              <a:t>▸  </a:t>
            </a:r>
            <a:r>
              <a:rPr sz="2100" b="1" i="0">
                <a:solidFill>
                  <a:srgbClr val="182030"/>
                </a:solidFill>
                <a:latin typeface="Calibri"/>
              </a:rPr>
              <a:t>LX200 “no position yet” </a:t>
            </a:r>
            <a:r>
              <a:rPr sz="2100" b="0" i="0">
                <a:solidFill>
                  <a:srgbClr val="182030"/>
                </a:solidFill>
                <a:latin typeface="Calibri"/>
              </a:rPr>
              <a:t>— return None, not a parseable fake coordinate.</a:t>
            </a:r>
          </a:p>
          <a:p>
            <a:pPr marL="384048" indent="-384048">
              <a:lnSpc>
                <a:spcPct val="112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1" i="0">
                <a:solidFill>
                  <a:srgbClr val="4EA8DE"/>
                </a:solidFill>
                <a:latin typeface="Calibri"/>
              </a:rPr>
              <a:t>▸  </a:t>
            </a:r>
            <a:r>
              <a:rPr sz="2100" b="1" i="0">
                <a:solidFill>
                  <a:srgbClr val="182030"/>
                </a:solidFill>
                <a:latin typeface="Calibri"/>
              </a:rPr>
              <a:t>Near-pole /api/fake_solve RA </a:t>
            </a:r>
            <a:r>
              <a:rPr sz="2100" b="0" i="0">
                <a:solidFill>
                  <a:srgbClr val="182030"/>
                </a:solidFill>
                <a:latin typeface="Calibri"/>
              </a:rPr>
              <a:t>— filed as brickbots/PiFinder#645.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035040"/>
            <a:ext cx="10972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 i="0">
                <a:solidFill>
                  <a:srgbClr val="5C677B"/>
                </a:solidFill>
                <a:latin typeface="Calibri"/>
              </a:rPr>
              <a:t>Ready-to-file PR text: docs/upstream_pr_templates.md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00800"/>
            <a:ext cx="10911535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5C677B"/>
                </a:solidFill>
                <a:latin typeface="Calibri"/>
              </a:rPr>
              <a:t>Takeaway 1 · PiFinder PRs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640080" y="566928"/>
            <a:ext cx="155448" cy="155448"/>
          </a:xfrm>
          <a:prstGeom prst="ellipse">
            <a:avLst/>
          </a:prstGeom>
          <a:solidFill>
            <a:srgbClr val="FFB7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32688" y="530352"/>
            <a:ext cx="10618927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4EA8DE"/>
                </a:solidFill>
                <a:latin typeface="Calibri"/>
              </a:rPr>
              <a:t>CONCRETELY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96112"/>
            <a:ext cx="10911535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4000" b="1" i="0">
                <a:solidFill>
                  <a:srgbClr val="182030"/>
                </a:solidFill>
                <a:latin typeface="Calibri"/>
              </a:rPr>
              <a:t>How to help — PiFinder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103120"/>
            <a:ext cx="10972800" cy="3657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384048" indent="-384048">
              <a:lnSpc>
                <a:spcPct val="112000"/>
              </a:lnSpc>
              <a:spcBef>
                <a:spcPts val="0"/>
              </a:spcBef>
              <a:spcAft>
                <a:spcPts val="1800"/>
              </a:spcAft>
            </a:pPr>
            <a:r>
              <a:rPr sz="2500" b="1" i="0">
                <a:solidFill>
                  <a:srgbClr val="4EA8DE"/>
                </a:solidFill>
                <a:latin typeface="Calibri"/>
              </a:rPr>
              <a:t>▸  </a:t>
            </a:r>
            <a:r>
              <a:rPr sz="2500" b="1" i="0">
                <a:solidFill>
                  <a:srgbClr val="182030"/>
                </a:solidFill>
                <a:latin typeface="Calibri"/>
              </a:rPr>
              <a:t>Pick one from the inventory </a:t>
            </a:r>
            <a:r>
              <a:rPr sz="2500" b="0" i="0">
                <a:solidFill>
                  <a:srgbClr val="182030"/>
                </a:solidFill>
                <a:latin typeface="Calibri"/>
              </a:rPr>
              <a:t>— each is already triaged.</a:t>
            </a:r>
          </a:p>
          <a:p>
            <a:pPr marL="384048" indent="-384048">
              <a:lnSpc>
                <a:spcPct val="112000"/>
              </a:lnSpc>
              <a:spcBef>
                <a:spcPts val="0"/>
              </a:spcBef>
              <a:spcAft>
                <a:spcPts val="1800"/>
              </a:spcAft>
            </a:pPr>
            <a:r>
              <a:rPr sz="2500" b="1" i="0">
                <a:solidFill>
                  <a:srgbClr val="4EA8DE"/>
                </a:solidFill>
                <a:latin typeface="Calibri"/>
              </a:rPr>
              <a:t>▸  </a:t>
            </a:r>
            <a:r>
              <a:rPr sz="2500" b="1" i="0">
                <a:solidFill>
                  <a:srgbClr val="182030"/>
                </a:solidFill>
                <a:latin typeface="Calibri"/>
              </a:rPr>
              <a:t>PR text is written </a:t>
            </a:r>
            <a:r>
              <a:rPr sz="2500" b="0" i="0">
                <a:solidFill>
                  <a:srgbClr val="182030"/>
                </a:solidFill>
                <a:latin typeface="Calibri"/>
              </a:rPr>
              <a:t>in docs/upstream_pr_templates.md, in dependency order.</a:t>
            </a:r>
          </a:p>
          <a:p>
            <a:pPr marL="384048" indent="-384048">
              <a:lnSpc>
                <a:spcPct val="112000"/>
              </a:lnSpc>
              <a:spcBef>
                <a:spcPts val="0"/>
              </a:spcBef>
              <a:spcAft>
                <a:spcPts val="1800"/>
              </a:spcAft>
            </a:pPr>
            <a:r>
              <a:rPr sz="2500" b="1" i="0">
                <a:solidFill>
                  <a:srgbClr val="4EA8DE"/>
                </a:solidFill>
                <a:latin typeface="Calibri"/>
              </a:rPr>
              <a:t>▸  </a:t>
            </a:r>
            <a:r>
              <a:rPr sz="2500" b="1" i="0">
                <a:solidFill>
                  <a:srgbClr val="182030"/>
                </a:solidFill>
                <a:latin typeface="Calibri"/>
              </a:rPr>
              <a:t>Mind the caveats </a:t>
            </a:r>
            <a:r>
              <a:rPr sz="2500" b="0" i="0">
                <a:solidFill>
                  <a:srgbClr val="182030"/>
                </a:solidFill>
                <a:latin typeface="Calibri"/>
              </a:rPr>
              <a:t>— debug_solve needs an upstream regression fixed first.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00800"/>
            <a:ext cx="10911535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5C677B"/>
                </a:solidFill>
                <a:latin typeface="Calibri"/>
              </a:rPr>
              <a:t>Takeaway 1 · PiFinder PRs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0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10509900" y="1209403"/>
            <a:ext cx="41148" cy="4114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4221634" y="5790126"/>
            <a:ext cx="18288" cy="1828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2088292" y="1779192"/>
            <a:ext cx="18288" cy="1828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4187288" y="566696"/>
            <a:ext cx="18288" cy="1828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11408501" y="5199336"/>
            <a:ext cx="41148" cy="4114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4018073" y="4893128"/>
            <a:ext cx="18288" cy="1828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4805289" y="6355779"/>
            <a:ext cx="41148" cy="4114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10714362" y="263404"/>
            <a:ext cx="18288" cy="1828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2895058" y="3577211"/>
            <a:ext cx="41148" cy="4114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>
            <a:off x="536483" y="3374032"/>
            <a:ext cx="18288" cy="1828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10496994" y="5534680"/>
            <a:ext cx="18288" cy="1828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>
            <a:off x="8000106" y="1374378"/>
            <a:ext cx="41148" cy="4114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Oval 14"/>
          <p:cNvSpPr/>
          <p:nvPr/>
        </p:nvSpPr>
        <p:spPr>
          <a:xfrm>
            <a:off x="2751807" y="287923"/>
            <a:ext cx="18288" cy="1828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Oval 15"/>
          <p:cNvSpPr/>
          <p:nvPr/>
        </p:nvSpPr>
        <p:spPr>
          <a:xfrm>
            <a:off x="9608390" y="2091081"/>
            <a:ext cx="27432" cy="27432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Oval 16"/>
          <p:cNvSpPr/>
          <p:nvPr/>
        </p:nvSpPr>
        <p:spPr>
          <a:xfrm>
            <a:off x="2620433" y="6205481"/>
            <a:ext cx="27432" cy="27432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Oval 17"/>
          <p:cNvSpPr/>
          <p:nvPr/>
        </p:nvSpPr>
        <p:spPr>
          <a:xfrm>
            <a:off x="1347510" y="4901033"/>
            <a:ext cx="41148" cy="4114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Oval 18"/>
          <p:cNvSpPr/>
          <p:nvPr/>
        </p:nvSpPr>
        <p:spPr>
          <a:xfrm>
            <a:off x="2868732" y="6038252"/>
            <a:ext cx="27432" cy="27432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Oval 19"/>
          <p:cNvSpPr/>
          <p:nvPr/>
        </p:nvSpPr>
        <p:spPr>
          <a:xfrm>
            <a:off x="1358383" y="2627162"/>
            <a:ext cx="27432" cy="27432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Oval 20"/>
          <p:cNvSpPr/>
          <p:nvPr/>
        </p:nvSpPr>
        <p:spPr>
          <a:xfrm>
            <a:off x="7072792" y="881182"/>
            <a:ext cx="41148" cy="4114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Oval 21"/>
          <p:cNvSpPr/>
          <p:nvPr/>
        </p:nvSpPr>
        <p:spPr>
          <a:xfrm>
            <a:off x="910559" y="1065454"/>
            <a:ext cx="27432" cy="27432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Oval 22"/>
          <p:cNvSpPr/>
          <p:nvPr/>
        </p:nvSpPr>
        <p:spPr>
          <a:xfrm>
            <a:off x="4322892" y="4281555"/>
            <a:ext cx="41148" cy="4114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Oval 23"/>
          <p:cNvSpPr/>
          <p:nvPr/>
        </p:nvSpPr>
        <p:spPr>
          <a:xfrm>
            <a:off x="6053392" y="6381408"/>
            <a:ext cx="27432" cy="27432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Oval 24"/>
          <p:cNvSpPr/>
          <p:nvPr/>
        </p:nvSpPr>
        <p:spPr>
          <a:xfrm>
            <a:off x="5959817" y="3808726"/>
            <a:ext cx="41148" cy="4114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Oval 25"/>
          <p:cNvSpPr/>
          <p:nvPr/>
        </p:nvSpPr>
        <p:spPr>
          <a:xfrm>
            <a:off x="8647555" y="6067994"/>
            <a:ext cx="27432" cy="27432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Oval 26"/>
          <p:cNvSpPr/>
          <p:nvPr/>
        </p:nvSpPr>
        <p:spPr>
          <a:xfrm>
            <a:off x="8834068" y="5071994"/>
            <a:ext cx="18288" cy="1828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Oval 27"/>
          <p:cNvSpPr/>
          <p:nvPr/>
        </p:nvSpPr>
        <p:spPr>
          <a:xfrm>
            <a:off x="2984351" y="3525826"/>
            <a:ext cx="27432" cy="27432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Oval 28"/>
          <p:cNvSpPr/>
          <p:nvPr/>
        </p:nvSpPr>
        <p:spPr>
          <a:xfrm>
            <a:off x="7950159" y="5150246"/>
            <a:ext cx="41148" cy="4114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Oval 29"/>
          <p:cNvSpPr/>
          <p:nvPr/>
        </p:nvSpPr>
        <p:spPr>
          <a:xfrm>
            <a:off x="7316083" y="556062"/>
            <a:ext cx="18288" cy="1828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Oval 30"/>
          <p:cNvSpPr/>
          <p:nvPr/>
        </p:nvSpPr>
        <p:spPr>
          <a:xfrm>
            <a:off x="11782357" y="1365557"/>
            <a:ext cx="27432" cy="27432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Oval 31"/>
          <p:cNvSpPr/>
          <p:nvPr/>
        </p:nvSpPr>
        <p:spPr>
          <a:xfrm>
            <a:off x="8085896" y="2254113"/>
            <a:ext cx="27432" cy="27432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Oval 32"/>
          <p:cNvSpPr/>
          <p:nvPr/>
        </p:nvSpPr>
        <p:spPr>
          <a:xfrm>
            <a:off x="11804532" y="5343502"/>
            <a:ext cx="41148" cy="4114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Oval 33"/>
          <p:cNvSpPr/>
          <p:nvPr/>
        </p:nvSpPr>
        <p:spPr>
          <a:xfrm>
            <a:off x="7819267" y="6151370"/>
            <a:ext cx="18288" cy="1828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Oval 34"/>
          <p:cNvSpPr/>
          <p:nvPr/>
        </p:nvSpPr>
        <p:spPr>
          <a:xfrm>
            <a:off x="258020" y="5849054"/>
            <a:ext cx="41148" cy="4114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Oval 35"/>
          <p:cNvSpPr/>
          <p:nvPr/>
        </p:nvSpPr>
        <p:spPr>
          <a:xfrm>
            <a:off x="10646362" y="3081983"/>
            <a:ext cx="41148" cy="4114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Oval 36"/>
          <p:cNvSpPr/>
          <p:nvPr/>
        </p:nvSpPr>
        <p:spPr>
          <a:xfrm>
            <a:off x="1085628" y="782436"/>
            <a:ext cx="18288" cy="1828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Oval 37"/>
          <p:cNvSpPr/>
          <p:nvPr/>
        </p:nvSpPr>
        <p:spPr>
          <a:xfrm>
            <a:off x="10613418" y="5418038"/>
            <a:ext cx="27432" cy="27432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Oval 38"/>
          <p:cNvSpPr/>
          <p:nvPr/>
        </p:nvSpPr>
        <p:spPr>
          <a:xfrm>
            <a:off x="7082739" y="1020153"/>
            <a:ext cx="27432" cy="27432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Oval 39"/>
          <p:cNvSpPr/>
          <p:nvPr/>
        </p:nvSpPr>
        <p:spPr>
          <a:xfrm>
            <a:off x="1670274" y="2063040"/>
            <a:ext cx="41148" cy="4114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Oval 40"/>
          <p:cNvSpPr/>
          <p:nvPr/>
        </p:nvSpPr>
        <p:spPr>
          <a:xfrm>
            <a:off x="11957028" y="5247571"/>
            <a:ext cx="41148" cy="4114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Oval 41"/>
          <p:cNvSpPr/>
          <p:nvPr/>
        </p:nvSpPr>
        <p:spPr>
          <a:xfrm>
            <a:off x="10751537" y="2418955"/>
            <a:ext cx="27432" cy="27432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Oval 42"/>
          <p:cNvSpPr/>
          <p:nvPr/>
        </p:nvSpPr>
        <p:spPr>
          <a:xfrm>
            <a:off x="236703" y="2226324"/>
            <a:ext cx="18288" cy="1828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Oval 43"/>
          <p:cNvSpPr/>
          <p:nvPr/>
        </p:nvSpPr>
        <p:spPr>
          <a:xfrm>
            <a:off x="7354275" y="5171067"/>
            <a:ext cx="18288" cy="1828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Oval 44"/>
          <p:cNvSpPr/>
          <p:nvPr/>
        </p:nvSpPr>
        <p:spPr>
          <a:xfrm>
            <a:off x="3589668" y="2472425"/>
            <a:ext cx="41148" cy="4114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Oval 45"/>
          <p:cNvSpPr/>
          <p:nvPr/>
        </p:nvSpPr>
        <p:spPr>
          <a:xfrm>
            <a:off x="7817922" y="3822086"/>
            <a:ext cx="27432" cy="27432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640080" y="1920240"/>
            <a:ext cx="2743200" cy="1554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600" b="1" i="0">
                <a:solidFill>
                  <a:srgbClr val="FFB703"/>
                </a:solidFill>
                <a:latin typeface="Calibri"/>
              </a:rPr>
              <a:t>→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40080" y="3346704"/>
            <a:ext cx="10911535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4EA8DE"/>
                </a:solidFill>
                <a:latin typeface="Calibri"/>
              </a:rPr>
              <a:t>TAKEAWAY TWO · FOR STELLARMATE DEVS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40080" y="3712463"/>
            <a:ext cx="10911535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5200" b="1" i="0">
                <a:solidFill>
                  <a:srgbClr val="FFFFFF"/>
                </a:solidFill>
                <a:latin typeface="Calibri"/>
              </a:rPr>
              <a:t>Extending the SMOS app for PFSM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640080" y="566928"/>
            <a:ext cx="155448" cy="155448"/>
          </a:xfrm>
          <a:prstGeom prst="ellipse">
            <a:avLst/>
          </a:prstGeom>
          <a:solidFill>
            <a:srgbClr val="FFB7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32688" y="530352"/>
            <a:ext cx="10618927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4EA8DE"/>
                </a:solidFill>
                <a:latin typeface="Calibri"/>
              </a:rPr>
              <a:t>BASIC USAGE IN THE APP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96112"/>
            <a:ext cx="10911535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4000" b="1" i="0">
                <a:solidFill>
                  <a:srgbClr val="182030"/>
                </a:solidFill>
                <a:latin typeface="Calibri"/>
              </a:rPr>
              <a:t>What a thin integration needs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011680"/>
            <a:ext cx="10972800" cy="3657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384048" indent="-384048">
              <a:lnSpc>
                <a:spcPct val="112000"/>
              </a:lnSpc>
              <a:spcBef>
                <a:spcPts val="0"/>
              </a:spcBef>
              <a:spcAft>
                <a:spcPts val="1600"/>
              </a:spcAft>
            </a:pPr>
            <a:r>
              <a:rPr sz="2500" b="1" i="0">
                <a:solidFill>
                  <a:srgbClr val="4EA8DE"/>
                </a:solidFill>
                <a:latin typeface="Calibri"/>
              </a:rPr>
              <a:t>▸  </a:t>
            </a:r>
            <a:r>
              <a:rPr sz="2500" b="0" i="0">
                <a:solidFill>
                  <a:srgbClr val="182030"/>
                </a:solidFill>
                <a:latin typeface="Calibri"/>
              </a:rPr>
              <a:t>Start / stop the selected INDI profile.</a:t>
            </a:r>
          </a:p>
          <a:p>
            <a:pPr marL="384048" indent="-384048">
              <a:lnSpc>
                <a:spcPct val="112000"/>
              </a:lnSpc>
              <a:spcBef>
                <a:spcPts val="0"/>
              </a:spcBef>
              <a:spcAft>
                <a:spcPts val="1600"/>
              </a:spcAft>
            </a:pPr>
            <a:r>
              <a:rPr sz="2500" b="1" i="0">
                <a:solidFill>
                  <a:srgbClr val="4EA8DE"/>
                </a:solidFill>
                <a:latin typeface="Calibri"/>
              </a:rPr>
              <a:t>▸  </a:t>
            </a:r>
            <a:r>
              <a:rPr sz="2500" b="0" i="0">
                <a:solidFill>
                  <a:srgbClr val="182030"/>
                </a:solidFill>
                <a:latin typeface="Calibri"/>
              </a:rPr>
              <a:t>Add / remove just the PiFinder drivers.</a:t>
            </a:r>
          </a:p>
          <a:p>
            <a:pPr marL="384048" indent="-384048">
              <a:lnSpc>
                <a:spcPct val="112000"/>
              </a:lnSpc>
              <a:spcBef>
                <a:spcPts val="0"/>
              </a:spcBef>
              <a:spcAft>
                <a:spcPts val="1600"/>
              </a:spcAft>
            </a:pPr>
            <a:r>
              <a:rPr sz="2500" b="1" i="0">
                <a:solidFill>
                  <a:srgbClr val="4EA8DE"/>
                </a:solidFill>
                <a:latin typeface="Calibri"/>
              </a:rPr>
              <a:t>▸  </a:t>
            </a:r>
            <a:r>
              <a:rPr sz="2500" b="0" i="0">
                <a:solidFill>
                  <a:srgbClr val="182030"/>
                </a:solidFill>
                <a:latin typeface="Calibri"/>
              </a:rPr>
              <a:t>Pick “the mount” from the loaded drivers.</a:t>
            </a:r>
          </a:p>
          <a:p>
            <a:pPr marL="384048" indent="-384048">
              <a:lnSpc>
                <a:spcPct val="112000"/>
              </a:lnSpc>
              <a:spcBef>
                <a:spcPts val="0"/>
              </a:spcBef>
              <a:spcAft>
                <a:spcPts val="1600"/>
              </a:spcAft>
            </a:pPr>
            <a:r>
              <a:rPr sz="2500" b="1" i="0">
                <a:solidFill>
                  <a:srgbClr val="4EA8DE"/>
                </a:solidFill>
                <a:latin typeface="Calibri"/>
              </a:rPr>
              <a:t>▸  </a:t>
            </a:r>
            <a:r>
              <a:rPr sz="2500" b="0" i="0">
                <a:solidFill>
                  <a:srgbClr val="182030"/>
                </a:solidFill>
                <a:latin typeface="Calibri"/>
              </a:rPr>
              <a:t>Three Coupling presets, in PiFinder’s words.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806440"/>
            <a:ext cx="109728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5C677B"/>
                </a:solidFill>
                <a:latin typeface="Calibri"/>
              </a:rPr>
              <a:t>The coupling logic is already framework-agnostic Python — a thin adapter ports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00800"/>
            <a:ext cx="10911535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5C677B"/>
                </a:solidFill>
                <a:latin typeface="Calibri"/>
              </a:rPr>
              <a:t>Takeaway 2 · SMOS app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640080" y="566928"/>
            <a:ext cx="155448" cy="155448"/>
          </a:xfrm>
          <a:prstGeom prst="ellipse">
            <a:avLst/>
          </a:prstGeom>
          <a:solidFill>
            <a:srgbClr val="FFB7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32688" y="530352"/>
            <a:ext cx="10618927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4EA8DE"/>
                </a:solidFill>
                <a:latin typeface="Calibri"/>
              </a:rPr>
              <a:t>MAPPING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96112"/>
            <a:ext cx="10911535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4000" b="1" i="0">
                <a:solidFill>
                  <a:srgbClr val="182030"/>
                </a:solidFill>
                <a:latin typeface="Calibri"/>
              </a:rPr>
              <a:t>CC feature → app screen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148840"/>
            <a:ext cx="4572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400" b="1" i="0">
                <a:solidFill>
                  <a:srgbClr val="9AA6C2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148840"/>
            <a:ext cx="34747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 i="0">
                <a:solidFill>
                  <a:srgbClr val="182030"/>
                </a:solidFill>
                <a:latin typeface="Calibri"/>
              </a:rPr>
              <a:t>Status badges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2569464"/>
            <a:ext cx="35661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0" i="0">
                <a:solidFill>
                  <a:srgbClr val="5C677B"/>
                </a:solidFill>
                <a:latin typeface="Calibri"/>
              </a:rPr>
              <a:t>a read-only status card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246120"/>
            <a:ext cx="4572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400" b="1" i="0">
                <a:solidFill>
                  <a:srgbClr val="9AA6C2"/>
                </a:solidFill>
                <a:latin typeface="Calibr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3246120"/>
            <a:ext cx="34747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 i="0">
                <a:solidFill>
                  <a:srgbClr val="182030"/>
                </a:solidFill>
                <a:latin typeface="Calibri"/>
              </a:rPr>
              <a:t>Coupling presets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3666744"/>
            <a:ext cx="35661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0" i="0">
                <a:solidFill>
                  <a:srgbClr val="5C677B"/>
                </a:solidFill>
                <a:latin typeface="Calibri"/>
              </a:rPr>
              <a:t>a segmented 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4343400"/>
            <a:ext cx="4572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400" b="1" i="0">
                <a:solidFill>
                  <a:srgbClr val="9AA6C2"/>
                </a:solidFill>
                <a:latin typeface="Calibri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4343400"/>
            <a:ext cx="34747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 i="0">
                <a:solidFill>
                  <a:srgbClr val="182030"/>
                </a:solidFill>
                <a:latin typeface="Calibri"/>
              </a:rPr>
              <a:t>Quick Actions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4764024"/>
            <a:ext cx="35661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0" i="0">
                <a:solidFill>
                  <a:srgbClr val="5C677B"/>
                </a:solidFill>
                <a:latin typeface="Calibri"/>
              </a:rPr>
              <a:t>buttons on that card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6126480"/>
            <a:ext cx="42062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 i="0">
                <a:solidFill>
                  <a:srgbClr val="5C677B"/>
                </a:solidFill>
                <a:latin typeface="Calibri"/>
              </a:rPr>
              <a:t>APIs: /api/mount_bridge_*, or INDI.</a:t>
            </a:r>
          </a:p>
        </p:txBody>
      </p:sp>
      <p:pic>
        <p:nvPicPr>
          <p:cNvPr id="16" name="Picture 15" descr="cc_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39335" y="2148840"/>
            <a:ext cx="7452360" cy="3446574"/>
          </a:xfrm>
          <a:prstGeom prst="rect">
            <a:avLst/>
          </a:prstGeom>
          <a:ln w="12700">
            <a:solidFill>
              <a:srgbClr val="D8E0EC"/>
            </a:solidFill>
          </a:ln>
          <a:effectLst>
            <a:outerShdw blurRad="90000" dist="34000" dir="5400000" rotWithShape="0">
              <a:srgbClr val="0B1026">
                <a:alpha val="20000"/>
              </a:srgbClr>
            </a:outerShdw>
          </a:effectLst>
        </p:spPr>
      </p:pic>
      <p:sp>
        <p:nvSpPr>
          <p:cNvPr id="17" name="TextBox 16"/>
          <p:cNvSpPr txBox="1"/>
          <p:nvPr/>
        </p:nvSpPr>
        <p:spPr>
          <a:xfrm>
            <a:off x="4739335" y="5705543"/>
            <a:ext cx="74523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 i="0">
                <a:solidFill>
                  <a:srgbClr val="5C677B"/>
                </a:solidFill>
                <a:latin typeface="Calibri"/>
              </a:rPr>
              <a:t>Where each maps from, in the Control Center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6400800"/>
            <a:ext cx="10911535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5C677B"/>
                </a:solidFill>
                <a:latin typeface="Calibri"/>
              </a:rPr>
              <a:t>Takeaway 2 · SMOS app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0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5654992" y="2594926"/>
            <a:ext cx="18288" cy="1828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2355519" y="4591964"/>
            <a:ext cx="27432" cy="27432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6129002" y="6051266"/>
            <a:ext cx="18288" cy="1828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4117849" y="6302024"/>
            <a:ext cx="41148" cy="4114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624530" y="2632503"/>
            <a:ext cx="41148" cy="4114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11413564" y="6400025"/>
            <a:ext cx="27432" cy="27432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2010060" y="1704156"/>
            <a:ext cx="18288" cy="1828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1715325" y="5876321"/>
            <a:ext cx="41148" cy="4114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891858" y="4669633"/>
            <a:ext cx="41148" cy="4114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>
            <a:off x="10711017" y="6187268"/>
            <a:ext cx="18288" cy="1828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8172283" y="4914978"/>
            <a:ext cx="27432" cy="27432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>
            <a:off x="10738571" y="5223581"/>
            <a:ext cx="18288" cy="1828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Oval 14"/>
          <p:cNvSpPr/>
          <p:nvPr/>
        </p:nvSpPr>
        <p:spPr>
          <a:xfrm>
            <a:off x="4862910" y="2386538"/>
            <a:ext cx="18288" cy="1828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Oval 15"/>
          <p:cNvSpPr/>
          <p:nvPr/>
        </p:nvSpPr>
        <p:spPr>
          <a:xfrm>
            <a:off x="2514476" y="5972932"/>
            <a:ext cx="27432" cy="27432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Oval 16"/>
          <p:cNvSpPr/>
          <p:nvPr/>
        </p:nvSpPr>
        <p:spPr>
          <a:xfrm>
            <a:off x="790105" y="2631165"/>
            <a:ext cx="27432" cy="27432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Oval 17"/>
          <p:cNvSpPr/>
          <p:nvPr/>
        </p:nvSpPr>
        <p:spPr>
          <a:xfrm>
            <a:off x="1795377" y="1695736"/>
            <a:ext cx="41148" cy="4114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Oval 18"/>
          <p:cNvSpPr/>
          <p:nvPr/>
        </p:nvSpPr>
        <p:spPr>
          <a:xfrm>
            <a:off x="10939195" y="874836"/>
            <a:ext cx="41148" cy="4114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Oval 19"/>
          <p:cNvSpPr/>
          <p:nvPr/>
        </p:nvSpPr>
        <p:spPr>
          <a:xfrm>
            <a:off x="183335" y="5169482"/>
            <a:ext cx="18288" cy="1828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Oval 20"/>
          <p:cNvSpPr/>
          <p:nvPr/>
        </p:nvSpPr>
        <p:spPr>
          <a:xfrm>
            <a:off x="10806827" y="1473997"/>
            <a:ext cx="18288" cy="1828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Oval 21"/>
          <p:cNvSpPr/>
          <p:nvPr/>
        </p:nvSpPr>
        <p:spPr>
          <a:xfrm>
            <a:off x="10773122" y="1013996"/>
            <a:ext cx="18288" cy="1828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Oval 22"/>
          <p:cNvSpPr/>
          <p:nvPr/>
        </p:nvSpPr>
        <p:spPr>
          <a:xfrm>
            <a:off x="6105421" y="3909464"/>
            <a:ext cx="41148" cy="4114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Oval 23"/>
          <p:cNvSpPr/>
          <p:nvPr/>
        </p:nvSpPr>
        <p:spPr>
          <a:xfrm>
            <a:off x="11112184" y="2903012"/>
            <a:ext cx="27432" cy="27432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Oval 24"/>
          <p:cNvSpPr/>
          <p:nvPr/>
        </p:nvSpPr>
        <p:spPr>
          <a:xfrm>
            <a:off x="2427256" y="5173001"/>
            <a:ext cx="41148" cy="4114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Oval 25"/>
          <p:cNvSpPr/>
          <p:nvPr/>
        </p:nvSpPr>
        <p:spPr>
          <a:xfrm>
            <a:off x="7046855" y="1273208"/>
            <a:ext cx="41148" cy="4114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Oval 26"/>
          <p:cNvSpPr/>
          <p:nvPr/>
        </p:nvSpPr>
        <p:spPr>
          <a:xfrm>
            <a:off x="8713323" y="408408"/>
            <a:ext cx="27432" cy="27432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Oval 27"/>
          <p:cNvSpPr/>
          <p:nvPr/>
        </p:nvSpPr>
        <p:spPr>
          <a:xfrm>
            <a:off x="6752026" y="4129377"/>
            <a:ext cx="18288" cy="1828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Oval 28"/>
          <p:cNvSpPr/>
          <p:nvPr/>
        </p:nvSpPr>
        <p:spPr>
          <a:xfrm>
            <a:off x="9017389" y="4988558"/>
            <a:ext cx="41148" cy="4114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Oval 29"/>
          <p:cNvSpPr/>
          <p:nvPr/>
        </p:nvSpPr>
        <p:spPr>
          <a:xfrm>
            <a:off x="12030274" y="935994"/>
            <a:ext cx="41148" cy="4114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Oval 30"/>
          <p:cNvSpPr/>
          <p:nvPr/>
        </p:nvSpPr>
        <p:spPr>
          <a:xfrm>
            <a:off x="4932325" y="6102909"/>
            <a:ext cx="18288" cy="1828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Oval 31"/>
          <p:cNvSpPr/>
          <p:nvPr/>
        </p:nvSpPr>
        <p:spPr>
          <a:xfrm>
            <a:off x="7420195" y="420460"/>
            <a:ext cx="27432" cy="27432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Oval 32"/>
          <p:cNvSpPr/>
          <p:nvPr/>
        </p:nvSpPr>
        <p:spPr>
          <a:xfrm>
            <a:off x="10215276" y="3574228"/>
            <a:ext cx="41148" cy="4114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Oval 33"/>
          <p:cNvSpPr/>
          <p:nvPr/>
        </p:nvSpPr>
        <p:spPr>
          <a:xfrm>
            <a:off x="9368656" y="708222"/>
            <a:ext cx="27432" cy="27432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Oval 34"/>
          <p:cNvSpPr/>
          <p:nvPr/>
        </p:nvSpPr>
        <p:spPr>
          <a:xfrm>
            <a:off x="1447665" y="5942046"/>
            <a:ext cx="27432" cy="27432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Oval 35"/>
          <p:cNvSpPr/>
          <p:nvPr/>
        </p:nvSpPr>
        <p:spPr>
          <a:xfrm>
            <a:off x="5515471" y="2784920"/>
            <a:ext cx="41148" cy="4114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Oval 36"/>
          <p:cNvSpPr/>
          <p:nvPr/>
        </p:nvSpPr>
        <p:spPr>
          <a:xfrm>
            <a:off x="9023938" y="2632007"/>
            <a:ext cx="41148" cy="4114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Oval 37"/>
          <p:cNvSpPr/>
          <p:nvPr/>
        </p:nvSpPr>
        <p:spPr>
          <a:xfrm>
            <a:off x="4054546" y="2991662"/>
            <a:ext cx="18288" cy="1828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Oval 38"/>
          <p:cNvSpPr/>
          <p:nvPr/>
        </p:nvSpPr>
        <p:spPr>
          <a:xfrm>
            <a:off x="2779312" y="1912365"/>
            <a:ext cx="18288" cy="1828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Oval 39"/>
          <p:cNvSpPr/>
          <p:nvPr/>
        </p:nvSpPr>
        <p:spPr>
          <a:xfrm>
            <a:off x="3797623" y="2012764"/>
            <a:ext cx="41148" cy="4114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Oval 40"/>
          <p:cNvSpPr/>
          <p:nvPr/>
        </p:nvSpPr>
        <p:spPr>
          <a:xfrm>
            <a:off x="9481559" y="304326"/>
            <a:ext cx="41148" cy="4114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Oval 41"/>
          <p:cNvSpPr/>
          <p:nvPr/>
        </p:nvSpPr>
        <p:spPr>
          <a:xfrm>
            <a:off x="9761034" y="3411425"/>
            <a:ext cx="41148" cy="4114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Oval 42"/>
          <p:cNvSpPr/>
          <p:nvPr/>
        </p:nvSpPr>
        <p:spPr>
          <a:xfrm>
            <a:off x="9406292" y="3863697"/>
            <a:ext cx="18288" cy="1828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Oval 43"/>
          <p:cNvSpPr/>
          <p:nvPr/>
        </p:nvSpPr>
        <p:spPr>
          <a:xfrm>
            <a:off x="5202128" y="1657682"/>
            <a:ext cx="27432" cy="27432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Oval 44"/>
          <p:cNvSpPr/>
          <p:nvPr/>
        </p:nvSpPr>
        <p:spPr>
          <a:xfrm>
            <a:off x="6213558" y="6430112"/>
            <a:ext cx="41148" cy="4114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Oval 45"/>
          <p:cNvSpPr/>
          <p:nvPr/>
        </p:nvSpPr>
        <p:spPr>
          <a:xfrm>
            <a:off x="4538961" y="4531801"/>
            <a:ext cx="18288" cy="1828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640080" y="640080"/>
            <a:ext cx="1060704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800" b="1" i="0">
                <a:solidFill>
                  <a:srgbClr val="FFFFFF"/>
                </a:solidFill>
                <a:latin typeface="Calibri"/>
              </a:rPr>
              <a:t>Roadmap &amp; where to jump in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640080" y="1783080"/>
            <a:ext cx="5486400" cy="3931920"/>
          </a:xfrm>
          <a:prstGeom prst="roundRect">
            <a:avLst>
              <a:gd name="adj" fmla="val 4500"/>
            </a:avLst>
          </a:prstGeom>
          <a:solidFill>
            <a:srgbClr val="162040"/>
          </a:solidFill>
          <a:ln w="12700">
            <a:solidFill>
              <a:srgbClr val="2C3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1051560" y="2057400"/>
            <a:ext cx="47548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400" b="1" i="0">
                <a:solidFill>
                  <a:srgbClr val="4EA8DE"/>
                </a:solidFill>
                <a:latin typeface="Calibri"/>
              </a:rPr>
              <a:t>v2.x — consolidate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51560" y="2697480"/>
            <a:ext cx="4754880" cy="2926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384048" indent="-384048">
              <a:lnSpc>
                <a:spcPct val="112000"/>
              </a:lnSpc>
              <a:spcBef>
                <a:spcPts val="0"/>
              </a:spcBef>
              <a:spcAft>
                <a:spcPts val="1400"/>
              </a:spcAft>
            </a:pPr>
            <a:r>
              <a:rPr sz="1900" b="1" i="0">
                <a:solidFill>
                  <a:srgbClr val="4EA8DE"/>
                </a:solidFill>
                <a:latin typeface="Calibri"/>
              </a:rPr>
              <a:t>▸  </a:t>
            </a:r>
            <a:r>
              <a:rPr sz="1900" b="0" i="0">
                <a:solidFill>
                  <a:srgbClr val="EAEFF8"/>
                </a:solidFill>
                <a:latin typeface="Calibri"/>
              </a:rPr>
              <a:t>Harden &amp; test what exists.</a:t>
            </a:r>
          </a:p>
          <a:p>
            <a:pPr marL="384048" indent="-384048">
              <a:lnSpc>
                <a:spcPct val="112000"/>
              </a:lnSpc>
              <a:spcBef>
                <a:spcPts val="0"/>
              </a:spcBef>
              <a:spcAft>
                <a:spcPts val="1400"/>
              </a:spcAft>
            </a:pPr>
            <a:r>
              <a:rPr sz="1900" b="1" i="0">
                <a:solidFill>
                  <a:srgbClr val="4EA8DE"/>
                </a:solidFill>
                <a:latin typeface="Calibri"/>
              </a:rPr>
              <a:t>▸  </a:t>
            </a:r>
            <a:r>
              <a:rPr sz="1900" b="0" i="0">
                <a:solidFill>
                  <a:srgbClr val="EAEFF8"/>
                </a:solidFill>
                <a:latin typeface="Calibri"/>
              </a:rPr>
              <a:t>Send selected patches upstream.</a:t>
            </a:r>
          </a:p>
          <a:p>
            <a:pPr marL="384048" indent="-384048">
              <a:lnSpc>
                <a:spcPct val="112000"/>
              </a:lnSpc>
              <a:spcBef>
                <a:spcPts val="0"/>
              </a:spcBef>
              <a:spcAft>
                <a:spcPts val="1400"/>
              </a:spcAft>
            </a:pPr>
            <a:r>
              <a:rPr sz="1900" b="1" i="0">
                <a:solidFill>
                  <a:srgbClr val="4EA8DE"/>
                </a:solidFill>
                <a:latin typeface="Calibri"/>
              </a:rPr>
              <a:t>▸  </a:t>
            </a:r>
            <a:r>
              <a:rPr sz="1900" b="0" i="0">
                <a:solidFill>
                  <a:srgbClr val="EAEFF8"/>
                </a:solidFill>
                <a:latin typeface="Calibri"/>
              </a:rPr>
              <a:t>A guiding watcher.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6309360" y="1783080"/>
            <a:ext cx="5486400" cy="3931920"/>
          </a:xfrm>
          <a:prstGeom prst="roundRect">
            <a:avLst>
              <a:gd name="adj" fmla="val 4500"/>
            </a:avLst>
          </a:prstGeom>
          <a:solidFill>
            <a:srgbClr val="162040"/>
          </a:solidFill>
          <a:ln w="12700">
            <a:solidFill>
              <a:srgbClr val="2C3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6720840" y="2057400"/>
            <a:ext cx="47548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400" b="1" i="0">
                <a:solidFill>
                  <a:srgbClr val="FFB703"/>
                </a:solidFill>
                <a:latin typeface="Calibri"/>
              </a:rPr>
              <a:t>v3.x — integrate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720840" y="2697480"/>
            <a:ext cx="4846320" cy="2926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384048" indent="-384048">
              <a:lnSpc>
                <a:spcPct val="112000"/>
              </a:lnSpc>
              <a:spcBef>
                <a:spcPts val="0"/>
              </a:spcBef>
              <a:spcAft>
                <a:spcPts val="1400"/>
              </a:spcAft>
            </a:pPr>
            <a:r>
              <a:rPr sz="1900" b="1" i="0">
                <a:solidFill>
                  <a:srgbClr val="FFB703"/>
                </a:solidFill>
                <a:latin typeface="Calibri"/>
              </a:rPr>
              <a:t>▸  </a:t>
            </a:r>
            <a:r>
              <a:rPr sz="1900" b="0" i="0">
                <a:solidFill>
                  <a:srgbClr val="EAEFF8"/>
                </a:solidFill>
                <a:latin typeface="Calibri"/>
              </a:rPr>
              <a:t>Deeper SMOS integration (#35, #36).</a:t>
            </a:r>
          </a:p>
          <a:p>
            <a:pPr marL="384048" indent="-384048">
              <a:lnSpc>
                <a:spcPct val="112000"/>
              </a:lnSpc>
              <a:spcBef>
                <a:spcPts val="0"/>
              </a:spcBef>
              <a:spcAft>
                <a:spcPts val="1400"/>
              </a:spcAft>
            </a:pPr>
            <a:r>
              <a:rPr sz="1900" b="1" i="0">
                <a:solidFill>
                  <a:srgbClr val="FFB703"/>
                </a:solidFill>
                <a:latin typeface="Calibri"/>
              </a:rPr>
              <a:t>▸  </a:t>
            </a:r>
            <a:r>
              <a:rPr sz="1900" b="0" i="0">
                <a:solidFill>
                  <a:srgbClr val="EAEFF8"/>
                </a:solidFill>
                <a:latin typeface="Calibri"/>
              </a:rPr>
              <a:t>PFSM actions in the PiFinder app (#43).</a:t>
            </a:r>
          </a:p>
          <a:p>
            <a:pPr marL="384048" indent="-384048">
              <a:lnSpc>
                <a:spcPct val="112000"/>
              </a:lnSpc>
              <a:spcBef>
                <a:spcPts val="0"/>
              </a:spcBef>
              <a:spcAft>
                <a:spcPts val="1400"/>
              </a:spcAft>
            </a:pPr>
            <a:r>
              <a:rPr sz="1900" b="1" i="0">
                <a:solidFill>
                  <a:srgbClr val="FFB703"/>
                </a:solidFill>
                <a:latin typeface="Calibri"/>
              </a:rPr>
              <a:t>▸  </a:t>
            </a:r>
            <a:r>
              <a:rPr sz="1900" b="0" i="0">
                <a:solidFill>
                  <a:srgbClr val="EAEFF8"/>
                </a:solidFill>
                <a:latin typeface="Calibri"/>
              </a:rPr>
              <a:t>A “real” GSC-solving simulator (#344).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40080" y="5989320"/>
            <a:ext cx="10972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4EA8DE"/>
                </a:solidFill>
                <a:latin typeface="Calibri"/>
              </a:rPr>
              <a:t>github.com/apos/PiFinder_Stellarmate</a:t>
            </a:r>
            <a:r>
              <a:rPr sz="1400" b="0" i="0">
                <a:solidFill>
                  <a:srgbClr val="9AA6C2"/>
                </a:solidFill>
                <a:latin typeface="Calibri"/>
              </a:rPr>
              <a:t>   ·   GitHub Project #15   ·   CHANGELOG.md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0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283484" y="877158"/>
            <a:ext cx="27432" cy="27432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1815784" y="422024"/>
            <a:ext cx="18288" cy="1828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6515483" y="4821516"/>
            <a:ext cx="18288" cy="1828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1893795" y="5013396"/>
            <a:ext cx="41148" cy="4114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859559" y="1659104"/>
            <a:ext cx="41148" cy="4114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5473175" y="2853389"/>
            <a:ext cx="41148" cy="4114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1246803" y="271246"/>
            <a:ext cx="27432" cy="27432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4207339" y="1492921"/>
            <a:ext cx="27432" cy="27432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4485747" y="6425317"/>
            <a:ext cx="18288" cy="1828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>
            <a:off x="8765034" y="2878194"/>
            <a:ext cx="41148" cy="4114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6660510" y="6416299"/>
            <a:ext cx="18288" cy="1828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>
            <a:off x="4373835" y="1479294"/>
            <a:ext cx="27432" cy="27432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Oval 14"/>
          <p:cNvSpPr/>
          <p:nvPr/>
        </p:nvSpPr>
        <p:spPr>
          <a:xfrm>
            <a:off x="499087" y="4976466"/>
            <a:ext cx="27432" cy="27432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Oval 15"/>
          <p:cNvSpPr/>
          <p:nvPr/>
        </p:nvSpPr>
        <p:spPr>
          <a:xfrm>
            <a:off x="7897167" y="1574766"/>
            <a:ext cx="27432" cy="27432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Oval 16"/>
          <p:cNvSpPr/>
          <p:nvPr/>
        </p:nvSpPr>
        <p:spPr>
          <a:xfrm>
            <a:off x="8834678" y="1413155"/>
            <a:ext cx="41148" cy="4114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Oval 17"/>
          <p:cNvSpPr/>
          <p:nvPr/>
        </p:nvSpPr>
        <p:spPr>
          <a:xfrm>
            <a:off x="9895373" y="3311113"/>
            <a:ext cx="27432" cy="27432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Oval 18"/>
          <p:cNvSpPr/>
          <p:nvPr/>
        </p:nvSpPr>
        <p:spPr>
          <a:xfrm>
            <a:off x="4141517" y="2338365"/>
            <a:ext cx="27432" cy="27432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Oval 19"/>
          <p:cNvSpPr/>
          <p:nvPr/>
        </p:nvSpPr>
        <p:spPr>
          <a:xfrm>
            <a:off x="5879237" y="4421541"/>
            <a:ext cx="27432" cy="27432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Oval 20"/>
          <p:cNvSpPr/>
          <p:nvPr/>
        </p:nvSpPr>
        <p:spPr>
          <a:xfrm>
            <a:off x="11593612" y="6565667"/>
            <a:ext cx="18288" cy="1828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Oval 21"/>
          <p:cNvSpPr/>
          <p:nvPr/>
        </p:nvSpPr>
        <p:spPr>
          <a:xfrm>
            <a:off x="9550069" y="2153827"/>
            <a:ext cx="18288" cy="1828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Oval 22"/>
          <p:cNvSpPr/>
          <p:nvPr/>
        </p:nvSpPr>
        <p:spPr>
          <a:xfrm>
            <a:off x="6809532" y="6299236"/>
            <a:ext cx="41148" cy="4114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Oval 23"/>
          <p:cNvSpPr/>
          <p:nvPr/>
        </p:nvSpPr>
        <p:spPr>
          <a:xfrm>
            <a:off x="3653743" y="1279948"/>
            <a:ext cx="18288" cy="1828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Oval 24"/>
          <p:cNvSpPr/>
          <p:nvPr/>
        </p:nvSpPr>
        <p:spPr>
          <a:xfrm>
            <a:off x="11113266" y="4096516"/>
            <a:ext cx="41148" cy="4114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Oval 25"/>
          <p:cNvSpPr/>
          <p:nvPr/>
        </p:nvSpPr>
        <p:spPr>
          <a:xfrm>
            <a:off x="11542366" y="4545417"/>
            <a:ext cx="27432" cy="27432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Oval 26"/>
          <p:cNvSpPr/>
          <p:nvPr/>
        </p:nvSpPr>
        <p:spPr>
          <a:xfrm>
            <a:off x="10983082" y="4412140"/>
            <a:ext cx="18288" cy="1828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Oval 27"/>
          <p:cNvSpPr/>
          <p:nvPr/>
        </p:nvSpPr>
        <p:spPr>
          <a:xfrm>
            <a:off x="1495680" y="1471019"/>
            <a:ext cx="27432" cy="27432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Oval 28"/>
          <p:cNvSpPr/>
          <p:nvPr/>
        </p:nvSpPr>
        <p:spPr>
          <a:xfrm>
            <a:off x="5436538" y="5331120"/>
            <a:ext cx="41148" cy="4114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Oval 29"/>
          <p:cNvSpPr/>
          <p:nvPr/>
        </p:nvSpPr>
        <p:spPr>
          <a:xfrm>
            <a:off x="8646151" y="1899560"/>
            <a:ext cx="41148" cy="4114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Oval 30"/>
          <p:cNvSpPr/>
          <p:nvPr/>
        </p:nvSpPr>
        <p:spPr>
          <a:xfrm>
            <a:off x="1559132" y="1415099"/>
            <a:ext cx="27432" cy="27432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Oval 31"/>
          <p:cNvSpPr/>
          <p:nvPr/>
        </p:nvSpPr>
        <p:spPr>
          <a:xfrm>
            <a:off x="2071938" y="6655949"/>
            <a:ext cx="18288" cy="1828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Oval 32"/>
          <p:cNvSpPr/>
          <p:nvPr/>
        </p:nvSpPr>
        <p:spPr>
          <a:xfrm>
            <a:off x="5806094" y="3416804"/>
            <a:ext cx="41148" cy="4114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Oval 33"/>
          <p:cNvSpPr/>
          <p:nvPr/>
        </p:nvSpPr>
        <p:spPr>
          <a:xfrm>
            <a:off x="3450208" y="2588925"/>
            <a:ext cx="41148" cy="4114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Oval 34"/>
          <p:cNvSpPr/>
          <p:nvPr/>
        </p:nvSpPr>
        <p:spPr>
          <a:xfrm>
            <a:off x="5979714" y="4026040"/>
            <a:ext cx="18288" cy="1828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Oval 35"/>
          <p:cNvSpPr/>
          <p:nvPr/>
        </p:nvSpPr>
        <p:spPr>
          <a:xfrm>
            <a:off x="5922123" y="5386327"/>
            <a:ext cx="41148" cy="4114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Oval 36"/>
          <p:cNvSpPr/>
          <p:nvPr/>
        </p:nvSpPr>
        <p:spPr>
          <a:xfrm>
            <a:off x="8394952" y="6544097"/>
            <a:ext cx="18288" cy="1828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Oval 37"/>
          <p:cNvSpPr/>
          <p:nvPr/>
        </p:nvSpPr>
        <p:spPr>
          <a:xfrm>
            <a:off x="3173159" y="5176962"/>
            <a:ext cx="27432" cy="27432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Oval 38"/>
          <p:cNvSpPr/>
          <p:nvPr/>
        </p:nvSpPr>
        <p:spPr>
          <a:xfrm>
            <a:off x="4292683" y="210808"/>
            <a:ext cx="27432" cy="27432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Oval 39"/>
          <p:cNvSpPr/>
          <p:nvPr/>
        </p:nvSpPr>
        <p:spPr>
          <a:xfrm>
            <a:off x="7081266" y="3072443"/>
            <a:ext cx="18288" cy="1828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Oval 40"/>
          <p:cNvSpPr/>
          <p:nvPr/>
        </p:nvSpPr>
        <p:spPr>
          <a:xfrm>
            <a:off x="1711974" y="3871203"/>
            <a:ext cx="41148" cy="4114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Oval 41"/>
          <p:cNvSpPr/>
          <p:nvPr/>
        </p:nvSpPr>
        <p:spPr>
          <a:xfrm>
            <a:off x="732887" y="4179216"/>
            <a:ext cx="18288" cy="1828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Oval 42"/>
          <p:cNvSpPr/>
          <p:nvPr/>
        </p:nvSpPr>
        <p:spPr>
          <a:xfrm>
            <a:off x="9539041" y="6369694"/>
            <a:ext cx="27432" cy="27432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Oval 43"/>
          <p:cNvSpPr/>
          <p:nvPr/>
        </p:nvSpPr>
        <p:spPr>
          <a:xfrm>
            <a:off x="8351925" y="3787763"/>
            <a:ext cx="41148" cy="4114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Oval 44"/>
          <p:cNvSpPr/>
          <p:nvPr/>
        </p:nvSpPr>
        <p:spPr>
          <a:xfrm>
            <a:off x="8418955" y="3589529"/>
            <a:ext cx="41148" cy="4114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Oval 45"/>
          <p:cNvSpPr/>
          <p:nvPr/>
        </p:nvSpPr>
        <p:spPr>
          <a:xfrm>
            <a:off x="4920778" y="3587271"/>
            <a:ext cx="41148" cy="4114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Oval 46"/>
          <p:cNvSpPr/>
          <p:nvPr/>
        </p:nvSpPr>
        <p:spPr>
          <a:xfrm>
            <a:off x="7460800" y="2168084"/>
            <a:ext cx="27432" cy="27432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Oval 47"/>
          <p:cNvSpPr/>
          <p:nvPr/>
        </p:nvSpPr>
        <p:spPr>
          <a:xfrm>
            <a:off x="4021700" y="2583485"/>
            <a:ext cx="41148" cy="4114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Oval 48"/>
          <p:cNvSpPr/>
          <p:nvPr/>
        </p:nvSpPr>
        <p:spPr>
          <a:xfrm>
            <a:off x="9469867" y="5040993"/>
            <a:ext cx="27432" cy="27432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Oval 49"/>
          <p:cNvSpPr/>
          <p:nvPr/>
        </p:nvSpPr>
        <p:spPr>
          <a:xfrm>
            <a:off x="8361673" y="3954008"/>
            <a:ext cx="18288" cy="1828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Oval 50"/>
          <p:cNvSpPr/>
          <p:nvPr/>
        </p:nvSpPr>
        <p:spPr>
          <a:xfrm>
            <a:off x="637780" y="4535475"/>
            <a:ext cx="41148" cy="4114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Oval 51"/>
          <p:cNvSpPr/>
          <p:nvPr/>
        </p:nvSpPr>
        <p:spPr>
          <a:xfrm>
            <a:off x="5200537" y="1063024"/>
            <a:ext cx="27432" cy="27432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Oval 52"/>
          <p:cNvSpPr/>
          <p:nvPr/>
        </p:nvSpPr>
        <p:spPr>
          <a:xfrm>
            <a:off x="10653938" y="1485672"/>
            <a:ext cx="41148" cy="4114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Oval 53"/>
          <p:cNvSpPr/>
          <p:nvPr/>
        </p:nvSpPr>
        <p:spPr>
          <a:xfrm>
            <a:off x="3795357" y="4003720"/>
            <a:ext cx="27432" cy="27432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5" name="Picture 54" descr="PiFinder-Stellarmate_Wortmarke_Negativ_fuer-dunklen-h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86887" y="1965960"/>
            <a:ext cx="6217920" cy="1171587"/>
          </a:xfrm>
          <a:prstGeom prst="rect">
            <a:avLst/>
          </a:prstGeom>
        </p:spPr>
      </p:pic>
      <p:sp>
        <p:nvSpPr>
          <p:cNvPr id="56" name="TextBox 55"/>
          <p:cNvSpPr txBox="1"/>
          <p:nvPr/>
        </p:nvSpPr>
        <p:spPr>
          <a:xfrm>
            <a:off x="640080" y="3611880"/>
            <a:ext cx="10911535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100" b="0" i="0">
                <a:solidFill>
                  <a:srgbClr val="9AA6C2"/>
                </a:solidFill>
                <a:latin typeface="Calibri"/>
              </a:rPr>
              <a:t>© github.com/apos 2026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40080" y="4069080"/>
            <a:ext cx="10911535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5C677B"/>
                </a:solidFill>
                <a:latin typeface="Calibri"/>
              </a:rPr>
              <a:t>Unofficial community project — not affiliated with StellarMate or PiFinder.</a:t>
            </a:r>
          </a:p>
        </p:txBody>
      </p:sp>
      <p:pic>
        <p:nvPicPr>
          <p:cNvPr id="58" name="Picture 57" descr="HeyApos_Wortmarke_logo_thum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43527" y="5074920"/>
            <a:ext cx="1869439" cy="1051559"/>
          </a:xfrm>
          <a:prstGeom prst="rect">
            <a:avLst/>
          </a:prstGeom>
        </p:spPr>
      </p:pic>
      <p:pic>
        <p:nvPicPr>
          <p:cNvPr id="59" name="Picture 58" descr="avvp_2019_logo_wortmarke_ne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78727" y="5230368"/>
            <a:ext cx="2103120" cy="522544"/>
          </a:xfrm>
          <a:prstGeom prst="rect">
            <a:avLst/>
          </a:prstGeom>
        </p:spPr>
      </p:pic>
      <p:sp>
        <p:nvSpPr>
          <p:cNvPr id="60" name="TextBox 59"/>
          <p:cNvSpPr txBox="1"/>
          <p:nvPr/>
        </p:nvSpPr>
        <p:spPr>
          <a:xfrm>
            <a:off x="640080" y="6355080"/>
            <a:ext cx="10911535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 i="0">
                <a:solidFill>
                  <a:srgbClr val="9AA6C2"/>
                </a:solidFill>
                <a:latin typeface="Calibri"/>
              </a:rPr>
              <a:t>youtube.com/heyapos   ·   avvp.de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Metadata/LabelInfo.xml><?xml version="1.0" encoding="utf-8"?>
<clbl:labelList xmlns:clbl="http://schemas.microsoft.com/office/2020/mipLabelMetadata">
  <clbl:label id="{41f44385-be75-4dc2-abf7-73a8d0466140}" enabled="1" method="Standard" siteId="{008ae55d-17d4-45aa-b610-52181f8f0f6c}" contentBits="2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1583</Words>
  <Application>Microsoft Macintosh PowerPoint</Application>
  <PresentationFormat>Breitbild</PresentationFormat>
  <Paragraphs>232</Paragraphs>
  <Slides>31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31</vt:i4>
      </vt:variant>
    </vt:vector>
  </HeadingPairs>
  <TitlesOfParts>
    <vt:vector size="35" baseType="lpstr">
      <vt:lpstr>Aptos</vt:lpstr>
      <vt:lpstr>Arial</vt:lpstr>
      <vt:lpstr>Calibri</vt:lpstr>
      <vt:lpstr>Office Theme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POSPISCHIL Axel</cp:lastModifiedBy>
  <cp:revision>2</cp:revision>
  <dcterms:created xsi:type="dcterms:W3CDTF">2013-01-27T09:14:16Z</dcterms:created>
  <dcterms:modified xsi:type="dcterms:W3CDTF">2026-09-10T15:39:06Z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lassificationContentMarkingFooterLocations">
    <vt:lpwstr>Office Theme:8</vt:lpwstr>
  </property>
  <property fmtid="{D5CDD505-2E9C-101B-9397-08002B2CF9AE}" pid="3" name="ClassificationContentMarkingFooterText">
    <vt:lpwstr>Klassifizierung: Vertraulich/Confidential</vt:lpwstr>
  </property>
</Properties>
</file>