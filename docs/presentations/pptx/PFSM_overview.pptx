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B28A7A1-5F3F-7F0C-856F-3DB32976E0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599738" y="6687820"/>
            <a:ext cx="15462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Klassifizierung: Vertraulich/Confidential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iFinder.jpg"/>
          <p:cNvPicPr>
            <a:picLocks noChangeAspect="1"/>
          </p:cNvPicPr>
          <p:nvPr/>
        </p:nvPicPr>
        <p:blipFill>
          <a:blip r:embed="rId2"/>
          <a:srcRect r="4352"/>
          <a:stretch>
            <a:fillRect/>
          </a:stretch>
        </p:blipFill>
        <p:spPr>
          <a:xfrm>
            <a:off x="-580773" y="0"/>
            <a:ext cx="12772468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78638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Plate-solving push-to,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on a full imaging rig.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70408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EAEFF8"/>
                </a:solidFill>
                <a:latin typeface="Calibri"/>
              </a:rPr>
              <a:t>One Raspberry Pi. PiFinder answers “where am I pointing”, StellarMate drives everything else — joined over INDI.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3655" y="5989320"/>
            <a:ext cx="6217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github.com/apos/PiFinder_Stellarmate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5015" y="630936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2CBDB"/>
                </a:solidFill>
                <a:latin typeface="Calibri"/>
              </a:rPr>
              <a:t>Community project — not affiliated with PiFinder or StellarMate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74519"/>
            <a:ext cx="530352" cy="53035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892807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Project summary &amp; focus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15768"/>
            <a:ext cx="530352" cy="53035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73405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PFSM Control Center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57015"/>
            <a:ext cx="530352" cy="53035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575303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PF LX200 &amp; PF Mount Bridge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98264"/>
            <a:ext cx="530352" cy="53035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4165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PF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C677B"/>
                </a:solidFill>
                <a:latin typeface="Calibri"/>
              </a:rPr>
              <a:t>Then two takeaways —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PiFinder</a:t>
            </a:r>
            <a:r>
              <a:rPr sz="2100" b="0" i="0">
                <a:solidFill>
                  <a:srgbClr val="5C677B"/>
                </a:solidFill>
                <a:latin typeface="Calibri"/>
              </a:rPr>
              <a:t>: where to send PRs.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StellarMate</a:t>
            </a:r>
            <a:r>
              <a:rPr sz="2100" b="0" i="0">
                <a:solidFill>
                  <a:srgbClr val="5C677B"/>
                </a:solidFill>
                <a:latin typeface="Calibri"/>
              </a:rPr>
              <a:t>: how the SMOS app could drive PFSM.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FOR DUMMIES · 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Two problems, one telescope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 i="0">
                <a:solidFill>
                  <a:srgbClr val="0B1026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Where am I
pointing?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C677B"/>
                </a:solidFill>
                <a:latin typeface="Calibri"/>
              </a:rPr>
              <a:t>A Dobson or push-to EQ has no encoders — the software has no idea where the tube looks.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75120" y="2194560"/>
            <a:ext cx="457200" cy="457200"/>
          </a:xfrm>
          <a:prstGeom prst="ellipse">
            <a:avLst/>
          </a:prstGeom>
          <a:solidFill>
            <a:srgbClr val="4E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860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Drive the
whole rig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83280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C677B"/>
                </a:solidFill>
                <a:latin typeface="Calibri"/>
              </a:rPr>
              <a:t>Camera, mount, guiding, focus — all need one coordinated control layer: INDI, KStars/Ekos, an app.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For dummies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FOR DUMMIES · 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Each project owns one half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4EA8DE"/>
                </a:solidFill>
                <a:latin typeface="Calibri"/>
              </a:rPr>
              <a:t>PiFinder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Global-shutter camera + plate-solver.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Live sky position + push-to arrows.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Python, open hardware &amp;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548640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B703"/>
                </a:solidFill>
                <a:latin typeface="Calibri"/>
              </a:rPr>
              <a:t>StellarMate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88036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INDI — the device-driver standard.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KStars / Ekos — capture &amp; automation.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The StellarMate phone/tablet 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For dummies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560513" y="502084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68693" y="500841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82826" y="320267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71233" y="606840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67960" y="585472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17362" y="391580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850950" y="282429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57591" y="517845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217311" y="61073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95573" y="97130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724868" y="17213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579354" y="122910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84918" y="646722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78198" y="425676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51124" y="468412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697939" y="251511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289352" y="187401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728569" y="410784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39664" y="479627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831044" y="552602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6656" y="135364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34966" y="51243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449376" y="249177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2477" y="532337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622447" y="567557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94024" y="132827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555572" y="175731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41287" y="247300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27157" y="318441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056100" y="538584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3712" y="636400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621734" y="351379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078349" y="237534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633846" y="219423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6692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FOR DUMMIES · 3 /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9144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PFSM is the wiring. INDI is the connector.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2377440"/>
            <a:ext cx="3291840" cy="251460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50976" y="2688336"/>
            <a:ext cx="164592" cy="164592"/>
          </a:xfrm>
          <a:prstGeom prst="ellipse">
            <a:avLst/>
          </a:prstGeom>
          <a:solidFill>
            <a:srgbClr val="4EA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43584" y="25786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PiFinder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32004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exposes its solved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position as 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INDI telescope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2377440"/>
            <a:ext cx="3291840" cy="251460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864608" y="2688336"/>
            <a:ext cx="164592" cy="164592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57216" y="25786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Mount Bridge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32004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couples that to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any INDI mount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(optional)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3024" y="2377440"/>
            <a:ext cx="3291840" cy="251460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503920" y="2688336"/>
            <a:ext cx="164592" cy="164592"/>
          </a:xfrm>
          <a:prstGeom prst="ellipse">
            <a:avLst/>
          </a:prstGeom>
          <a:solidFill>
            <a:srgbClr val="8CD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96528" y="257860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Your rig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20040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KStars / Ekos, the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mount, the app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unchanged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4261104" y="3246120"/>
            <a:ext cx="384048" cy="502920"/>
          </a:xfrm>
          <a:prstGeom prst="rightArrow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ight Arrow 51"/>
          <p:cNvSpPr/>
          <p:nvPr/>
        </p:nvSpPr>
        <p:spPr>
          <a:xfrm>
            <a:off x="7900416" y="3246120"/>
            <a:ext cx="384048" cy="502920"/>
          </a:xfrm>
          <a:prstGeom prst="rightArrow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9AA6C2"/>
                </a:solidFill>
                <a:latin typeface="Calibri"/>
              </a:rPr>
              <a:t>PiFinder is patched in place, never forked. The mount side is generic INDI.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6C2"/>
                </a:solidFill>
                <a:latin typeface="Calibri"/>
              </a:rPr>
              <a:t>For dummies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804867" y="314128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37281" y="552432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7167" y="410542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35035" y="317334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30902" y="91857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11823" y="397709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2229" y="646931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58272" y="358322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025939" y="580528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53369" y="286963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59946" y="558160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62901" y="147081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409732" y="420811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77012" y="482459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67784" y="361496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36313" y="480093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0858" y="562003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44127" y="180087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872097" y="242873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74306" y="73004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95129" y="95507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67528" y="7645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14326" y="375776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35541" y="264825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431019" y="507155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41197" y="526422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845741" y="588246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93172" y="170255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866848" y="268015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43124" y="454826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826250" y="231496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869858" y="3692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00525" y="572653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267163" y="313940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095940" y="133473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48438" y="406708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460277" y="587362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266982" y="241221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851208" y="506414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545868" y="266548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078035" y="29598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330166" y="54825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70401" y="503400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073121" y="189447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PART ONE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Project summary &amp; focus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What PFSM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A setup script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installs &amp; patches PiFinder onto StellarMate OS.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diffs/*.diff patches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applied to a stock checkout via patch(1).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Three INDI drivers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LX200, Mount Bridge, Simulator.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A web Control Center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stdlib-only, port 8777.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1 ·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What PFSM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C6453A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Not a fork of PiFinder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patches re-applied every update, kept minimal.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C6453A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Not a fork of StellarMate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stock INDI, Web Manager, KStars.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C6453A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Not a replacement for the INDI Control Panel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it stays for advanced work.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C6453A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Not PiFinder-version-specific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talks only to the stable /api/*.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1 ·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THE KEY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Why INDI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B2A4A"/>
                </a:solidFill>
                <a:latin typeface="Calibri"/>
              </a:rPr>
              <a:t>Both sides already speak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PiFinder exposes its position as an INDI telescope.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The Mount Bridge couples that to any INDI mount — no per-mount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1 ·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TESTED AGAINST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Versions &amp;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PiFinder 2.6.3   ·   StellarMate OS 2.3.0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72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Pi 4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fully tested.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Pi 5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fully tested.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UTM x86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install + Control Center + Mount Bridge vs. the Simulator (no real solving).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677B"/>
                </a:solidFill>
                <a:latin typeface="Calibri"/>
              </a:rPr>
              <a:t>Pinned to a fixed release tag, not the upstream </a:t>
            </a:r>
            <a:r>
              <a:rPr sz="1600" b="1" i="0">
                <a:solidFill>
                  <a:srgbClr val="182030"/>
                </a:solidFill>
                <a:latin typeface="Calibri"/>
              </a:rPr>
              <a:t>release</a:t>
            </a:r>
            <a:r>
              <a:rPr sz="1600" b="0" i="0">
                <a:solidFill>
                  <a:srgbClr val="5C677B"/>
                </a:solidFill>
                <a:latin typeface="Calibri"/>
              </a:rPr>
              <a:t> branch. The README table is the single source of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1 ·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469055" y="316090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5554" y="163599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4581" y="384167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8431" y="168718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416673" y="566064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10169" y="216615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668999" y="353675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58667" y="427525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821843" y="42345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69182" y="132168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28792" y="451970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56696" y="252743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4388" y="650901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653221" y="432436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854398" y="615574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717629" y="313933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68036" y="537678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40497" y="189314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21787" y="456068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63622" y="289215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812242" y="67036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38300" y="274824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175063" y="25345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22713" y="288682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095172" y="370049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61584" y="412103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453178" y="394539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264578" y="519494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847655" y="247602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338122" y="114794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022711" y="321908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59751" y="164139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012606" y="538990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501331" y="299380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48349" y="64623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28537" y="99604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597025" y="77670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781698" y="20289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974189" y="92580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496386" y="658743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738400" y="451446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816528" y="591133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163318" y="164697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57606" y="455120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PART TWO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PFSM Control Center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C2"/>
                </a:solidFill>
                <a:latin typeface="Calibri"/>
              </a:rPr>
              <a:t>Install, mode-switching, hardware checks and the Mount Bridge — one web page, no SSH.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Why a Control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Watch an install from a phone at the scope.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Switch Fake Mode ⟷ the real service.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Check camera / IMU / GPS are really detected.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Reboot the Pi without SSH.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2 · Control Center</a:t>
            </a:r>
          </a:p>
        </p:txBody>
      </p:sp>
      <p:pic>
        <p:nvPicPr>
          <p:cNvPr id="9" name="Picture 7" descr="cc_full_page.png">
            <a:extLst>
              <a:ext uri="{FF2B5EF4-FFF2-40B4-BE49-F238E27FC236}">
                <a16:creationId xmlns:a16="http://schemas.microsoft.com/office/drawing/2014/main" id="{B8930D96-151B-222F-9C0E-A9741919E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0"/>
            <a:ext cx="5471160" cy="6907339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Stdlib only — by necessity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943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It bootstraps the very venv that PiFinder needs, so it can’t depend on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5548069" cy="1246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 dirty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 dirty="0" err="1">
                <a:solidFill>
                  <a:srgbClr val="182030"/>
                </a:solidFill>
                <a:latin typeface="Calibri"/>
              </a:rPr>
              <a:t>http.server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 on :8777, polled every 1–2 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100" b="1" i="0" dirty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HTTP Basic auth against the system account (PAM).</a:t>
            </a:r>
          </a:p>
        </p:txBody>
      </p:sp>
      <p:pic>
        <p:nvPicPr>
          <p:cNvPr id="8" name="Picture 7" descr="cc_ful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0"/>
            <a:ext cx="5471160" cy="6907339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2 · Control Center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STATUS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Traffic-light badges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12848"/>
            <a:ext cx="310896" cy="310896"/>
          </a:xfrm>
          <a:prstGeom prst="ellipse">
            <a:avLst/>
          </a:prstGeom>
          <a:solidFill>
            <a:srgbClr val="C4C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19" y="2148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82030"/>
                </a:solidFill>
                <a:latin typeface="Calibri"/>
              </a:rPr>
              <a:t>White  </a:t>
            </a:r>
            <a:r>
              <a:rPr sz="2500" b="0" i="0">
                <a:solidFill>
                  <a:srgbClr val="5C677B"/>
                </a:solidFill>
                <a:latin typeface="Calibri"/>
              </a:rPr>
              <a:t>not applicable yet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26079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19" y="286207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82030"/>
                </a:solidFill>
                <a:latin typeface="Calibri"/>
              </a:rPr>
              <a:t>Green  </a:t>
            </a:r>
            <a:r>
              <a:rPr sz="2500" b="0" i="0">
                <a:solidFill>
                  <a:srgbClr val="5C677B"/>
                </a:solidFill>
                <a:latin typeface="Calibri"/>
              </a:rPr>
              <a:t>verified functional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39312"/>
            <a:ext cx="310896" cy="310896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19" y="35753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82030"/>
                </a:solidFill>
                <a:latin typeface="Calibri"/>
              </a:rPr>
              <a:t>Yellow  </a:t>
            </a:r>
            <a:r>
              <a:rPr sz="2500" b="0" i="0">
                <a:solidFill>
                  <a:srgbClr val="5C677B"/>
                </a:solidFill>
                <a:latin typeface="Calibri"/>
              </a:rPr>
              <a:t>degraded / estimate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352544"/>
            <a:ext cx="310896" cy="310896"/>
          </a:xfrm>
          <a:prstGeom prst="ellipse">
            <a:avLst/>
          </a:prstGeom>
          <a:solidFill>
            <a:srgbClr val="C6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19" y="428853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82030"/>
                </a:solidFill>
                <a:latin typeface="Calibri"/>
              </a:rPr>
              <a:t>Red  </a:t>
            </a:r>
            <a:r>
              <a:rPr sz="2500" b="0" i="0">
                <a:solidFill>
                  <a:srgbClr val="5C677B"/>
                </a:solidFill>
                <a:latin typeface="Calibri"/>
              </a:rPr>
              <a:t>broken or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5C677B"/>
                </a:solidFill>
                <a:latin typeface="Calibri"/>
              </a:rPr>
              <a:t>The rule: verify real state, never “the process is alive”.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2 · Control Center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OPERATING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Coupling, without the INDI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34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Quick Actions — one-shots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34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Coupling presets — one click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34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Settings — set once, hidden</a:t>
            </a:r>
          </a:p>
        </p:txBody>
      </p:sp>
      <p:pic>
        <p:nvPicPr>
          <p:cNvPr id="7" name="Picture 6" descr="cc_mount_bridge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288" y="1920240"/>
            <a:ext cx="6307406" cy="4892040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2 · Control Center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13964" y="14337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40832" y="233950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952580" y="460390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524083" y="237178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655919" y="108227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529540" y="551319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35393" y="501022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045885" y="134275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2537" y="585036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504796" y="429737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46056" y="483596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63057" y="176456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57567" y="408141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54077" y="665303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94828" y="140051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55365" y="135569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495049" y="417622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61658" y="487286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35773" y="137679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84423" y="622835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05931" y="378870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97269" y="51947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122269" y="188760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753087" y="638994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98589" y="653961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410040" y="623037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417442" y="126243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13232" y="92350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029252" y="602769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52125" y="564061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204001" y="525223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316136" y="369631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78912" y="481824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11999" y="215851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115062" y="350048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808881" y="430191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466781" y="81198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977704" y="614547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49130" y="107095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155995" y="274637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303854" y="617295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318763" y="602152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367987" y="396733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345864" y="441446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PART THREE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PF LX200 &amp; PF Mount Bridge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C2"/>
                </a:solidFill>
                <a:latin typeface="Calibri"/>
              </a:rPr>
              <a:t>PiFinder as a telescope, plus a generic bridge to any INDI mount.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THE INDI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Three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6231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82030"/>
                </a:solidFill>
                <a:latin typeface="Calibri"/>
              </a:rPr>
              <a:t>PiFinder LX200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95144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INDI telescope. Reports the solved position; a GoTo becomes a push-to.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82030"/>
                </a:solidFill>
                <a:latin typeface="Calibri"/>
              </a:rPr>
              <a:t>PiFinder Mount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1927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Optional. Snoops PiFinder + the mount and couples them. Generic INDI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227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448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82030"/>
                </a:solidFill>
                <a:latin typeface="Calibri"/>
              </a:rPr>
              <a:t>Your mount’s driver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Not ours — whatever your mount already uses. Only for a motorised mount.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The Mount Bridge status row — the three, wired together: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5285232"/>
            <a:ext cx="12191695" cy="1572768"/>
          </a:xfrm>
          <a:prstGeom prst="roundRect">
            <a:avLst>
              <a:gd name="adj" fmla="val 4500"/>
            </a:avLst>
          </a:prstGeom>
          <a:solidFill>
            <a:srgbClr val="0B1026"/>
          </a:solidFill>
          <a:ln w="12700">
            <a:solidFill>
              <a:srgbClr val="0B10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badge_mb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5486400"/>
            <a:ext cx="9692640" cy="11798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THE TELESCOPE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PiFinder LX200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79" y="1828800"/>
            <a:ext cx="11449139" cy="1311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i="0" dirty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 dirty="0">
                <a:solidFill>
                  <a:srgbClr val="182030"/>
                </a:solidFill>
                <a:latin typeface="Calibri"/>
              </a:rPr>
              <a:t>Talks LX200 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to </a:t>
            </a:r>
            <a:r>
              <a:rPr sz="2100" b="0" i="0" dirty="0" err="1">
                <a:solidFill>
                  <a:srgbClr val="182030"/>
                </a:solidFill>
                <a:latin typeface="Calibri"/>
              </a:rPr>
              <a:t>PiFinder’s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 </a:t>
            </a:r>
            <a:r>
              <a:rPr sz="2100" b="0" i="0" dirty="0" err="1">
                <a:solidFill>
                  <a:srgbClr val="182030"/>
                </a:solidFill>
                <a:latin typeface="Calibri"/>
              </a:rPr>
              <a:t>pos_server.py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 (TCP 4030).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i="0" dirty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 dirty="0">
                <a:solidFill>
                  <a:srgbClr val="182030"/>
                </a:solidFill>
                <a:latin typeface="Calibri"/>
              </a:rPr>
              <a:t>Reports the solved position 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each poll; a </a:t>
            </a:r>
            <a:r>
              <a:rPr sz="2100" b="0" i="0" dirty="0" err="1">
                <a:solidFill>
                  <a:srgbClr val="182030"/>
                </a:solidFill>
                <a:latin typeface="Calibri"/>
              </a:rPr>
              <a:t>GoTo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 is only a push-to.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2100" b="1" i="0" dirty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 dirty="0">
                <a:solidFill>
                  <a:srgbClr val="182030"/>
                </a:solidFill>
                <a:latin typeface="Calibri"/>
              </a:rPr>
              <a:t>No Sync 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— </a:t>
            </a:r>
            <a:r>
              <a:rPr sz="2100" b="0" i="0" dirty="0" err="1">
                <a:solidFill>
                  <a:srgbClr val="182030"/>
                </a:solidFill>
                <a:latin typeface="Calibri"/>
              </a:rPr>
              <a:t>PiFinder</a:t>
            </a:r>
            <a:r>
              <a:rPr sz="2100" b="0" i="0" dirty="0">
                <a:solidFill>
                  <a:srgbClr val="182030"/>
                </a:solidFill>
                <a:latin typeface="Calibri"/>
              </a:rPr>
              <a:t> measures the truth every frame.</a:t>
            </a:r>
          </a:p>
        </p:txBody>
      </p:sp>
      <p:pic>
        <p:nvPicPr>
          <p:cNvPr id="7" name="Picture 6" descr="lx200_o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3231909"/>
            <a:ext cx="10332720" cy="3077451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3 · INDI Control Panel — On Set: Track / Slew, no Sync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10896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ONE PROPERTY, FOUR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The Coupling Dial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8833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pure push-to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Verify / Alert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3989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warn only, hands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Auto-correct on drift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9145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Sync past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7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0679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Goto-Forward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4301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real slew, then refine</a:t>
            </a:r>
          </a:p>
        </p:txBody>
      </p:sp>
      <p:pic>
        <p:nvPicPr>
          <p:cNvPr id="18" name="Picture 17" descr="c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5" y="1705713"/>
            <a:ext cx="7452360" cy="3446574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4739335" y="5365063"/>
            <a:ext cx="7452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 dirty="0">
                <a:solidFill>
                  <a:srgbClr val="5C677B"/>
                </a:solidFill>
                <a:latin typeface="Calibri"/>
              </a:rPr>
              <a:t>The dial in the Control Center — </a:t>
            </a:r>
            <a:r>
              <a:rPr sz="1500" b="1" i="0" dirty="0">
                <a:solidFill>
                  <a:srgbClr val="182030"/>
                </a:solidFill>
                <a:latin typeface="Calibri"/>
              </a:rPr>
              <a:t>Decouple + the three presets.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3 · Auto-correct → Sync (any mount); Goto-Forward → Goto / Track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WORKS WITH ANY 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Generic INDI, nothing mount-specific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 i="0">
                <a:solidFill>
                  <a:srgbClr val="182030"/>
                </a:solidFill>
                <a:latin typeface="Calibri"/>
              </a:rPr>
              <a:t>Only </a:t>
            </a:r>
            <a:r>
              <a:rPr sz="2300" b="1" i="0">
                <a:solidFill>
                  <a:srgbClr val="1B2A4A"/>
                </a:solidFill>
                <a:latin typeface="Calibri"/>
              </a:rPr>
              <a:t>EQUATORIAL_EOD_COORD</a:t>
            </a:r>
            <a:r>
              <a:rPr sz="2300" b="0" i="0">
                <a:solidFill>
                  <a:srgbClr val="182030"/>
                </a:solidFill>
                <a:latin typeface="Calibri"/>
              </a:rPr>
              <a:t> + </a:t>
            </a:r>
            <a:r>
              <a:rPr sz="2300" b="1" i="0">
                <a:solidFill>
                  <a:srgbClr val="1B2A4A"/>
                </a:solidFill>
                <a:latin typeface="Calibri"/>
              </a:rPr>
              <a:t>ON_COORD_SET</a:t>
            </a:r>
            <a:r>
              <a:rPr sz="2300" b="0" i="0">
                <a:solidFill>
                  <a:srgbClr val="182030"/>
                </a:solidFill>
                <a:latin typeface="Calibri"/>
              </a:rPr>
              <a:t> — never a mount command.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82030"/>
                </a:solidFill>
                <a:latin typeface="Calibri"/>
              </a:rPr>
              <a:t>Multi-Point Alignment (#191)</a:t>
            </a:r>
            <a:r>
              <a:rPr sz="2100" b="0" i="0">
                <a:solidFill>
                  <a:srgbClr val="5C677B"/>
                </a:solidFill>
                <a:latin typeface="Calibri"/>
              </a:rPr>
              <a:t>    ·  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Reposition detection</a:t>
            </a:r>
            <a:r>
              <a:rPr sz="2100" b="0" i="0">
                <a:solidFill>
                  <a:srgbClr val="5C677B"/>
                </a:solidFill>
                <a:latin typeface="Calibri"/>
              </a:rPr>
              <a:t>    ·  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Shadow Sync</a:t>
            </a:r>
          </a:p>
        </p:txBody>
      </p:sp>
      <p:pic>
        <p:nvPicPr>
          <p:cNvPr id="8" name="Picture 7" descr="kstars_both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3260834"/>
            <a:ext cx="8229600" cy="3606310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40080" y="6400800"/>
            <a:ext cx="287929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5C677B"/>
                </a:solidFill>
                <a:latin typeface="Calibri"/>
              </a:rPr>
              <a:t>Part 3 · </a:t>
            </a:r>
            <a:r>
              <a:rPr sz="1200" b="0" i="0" dirty="0" err="1">
                <a:solidFill>
                  <a:srgbClr val="5C677B"/>
                </a:solidFill>
                <a:latin typeface="Calibri"/>
              </a:rPr>
              <a:t>PiFinder</a:t>
            </a:r>
            <a:r>
              <a:rPr sz="1200" b="0" i="0" dirty="0">
                <a:solidFill>
                  <a:srgbClr val="5C677B"/>
                </a:solidFill>
                <a:latin typeface="Calibri"/>
              </a:rPr>
              <a:t> + the mount, co-located on the </a:t>
            </a:r>
            <a:r>
              <a:rPr sz="1200" b="0" i="0" dirty="0" err="1">
                <a:solidFill>
                  <a:srgbClr val="5C677B"/>
                </a:solidFill>
                <a:latin typeface="Calibri"/>
              </a:rPr>
              <a:t>KStars</a:t>
            </a:r>
            <a:r>
              <a:rPr sz="1200" b="0" i="0" dirty="0">
                <a:solidFill>
                  <a:srgbClr val="5C677B"/>
                </a:solidFill>
                <a:latin typeface="Calibri"/>
              </a:rPr>
              <a:t> sky map — right-click either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77564" y="398076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594039" y="129884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250056" y="231309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50165" y="291636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95611" y="587893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284298" y="99594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45006" y="579633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513293" y="164704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21263" y="530818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02528" y="440298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958677" y="443019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053370" y="109490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628790" y="258865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48166" y="19547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65260" y="549824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13889" y="384678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934890" y="667799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359929" y="149474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499622" y="625374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96209" y="541909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44581" y="399111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308173" y="533222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13487" y="274596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05667" y="520730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530073" y="268192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220318" y="192154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556497" y="268994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57696" y="491325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973844" y="480686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901987" y="268938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31939" y="582625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3038" y="356952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541440" y="217117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050902" y="107867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035708" y="197089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14162" y="440870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529273" y="183839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891253" y="642433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43585" y="514161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326283" y="44963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921459" y="602875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985863" y="382938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982241" y="201369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764379" y="18051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PART FOUR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PF Simulator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846320"/>
            <a:ext cx="999713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9AA6C2"/>
                </a:solidFill>
                <a:latin typeface="Calibri"/>
              </a:rPr>
              <a:t>Test the Mount Bridge with no real mount and no clear sky.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HARDWARE-FREE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A mount side and a PiFinder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783080"/>
            <a:ext cx="571500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Mount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5C677B"/>
                </a:solidFill>
                <a:latin typeface="Calibri"/>
              </a:rPr>
              <a:t>Stock INDI Telescope Simulator — Sync or GoTo like a real mount.</a:t>
            </a:r>
          </a:p>
        </p:txBody>
      </p:sp>
      <p:pic>
        <p:nvPicPr>
          <p:cNvPr id="9" name="Picture 8" descr="sim_mount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3566160"/>
            <a:ext cx="5166360" cy="2260282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6172200" y="1783080"/>
            <a:ext cx="5715000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82030"/>
                </a:solidFill>
                <a:latin typeface="Calibri"/>
              </a:rPr>
              <a:t>PiFinder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42032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Simulator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holds a settable RA/Dec.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Truth Injector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POSTs to /api/fake_solve.</a:t>
            </a:r>
          </a:p>
        </p:txBody>
      </p:sp>
      <p:pic>
        <p:nvPicPr>
          <p:cNvPr id="13" name="Picture 12" descr="sim_pf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566160"/>
            <a:ext cx="5166360" cy="2441105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4 · Simulator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BEHAVIOUR &amp;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Simulator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Sync == Goto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no motion to model; the RA/Dec just becomes the held value.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Inject every cycle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keeps PiFinder’s solve timestamp fresh.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FOLLOW_MOUNT_DEVICE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(#239) — optionally dead-reckon along a mount’s slews.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82030"/>
                </a:solidFill>
                <a:latin typeface="Calibri"/>
              </a:rPr>
              <a:t>Next (v3.x): </a:t>
            </a:r>
            <a:r>
              <a:rPr sz="1800" b="0" i="0">
                <a:solidFill>
                  <a:srgbClr val="5C677B"/>
                </a:solidFill>
                <a:latin typeface="Calibri"/>
              </a:rPr>
              <a:t>render a GSC star field and run PiFinder’s real solver on it — issue #344.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Part 4 · Simulator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27928" y="169193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995779" y="488386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598368" y="623384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36783" y="551990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67863" y="202785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53279" y="236223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39430" y="443092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78983" y="54514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984085" y="342647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87750" y="400092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95360" y="51071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60" y="423478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66430" y="80856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16976" y="307170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86530" y="264343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05143" y="433364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14677" y="38448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62587" y="348216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07058" y="404489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07315" y="140847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418306" y="639315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06047" y="297423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31629" y="151993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70856" y="33917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465423" y="291409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623740" y="174778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404866" y="446488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06271" y="300284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300198" y="84584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86118" y="348787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891607" y="313674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280561" y="98669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645055" y="284027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26712" y="294584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45337" y="472196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9962" y="461243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721871" y="578519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33630" y="531886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987097" y="147093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489561" y="199911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56631" y="651429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773984" y="577852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800633" y="648496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057228" y="314974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TAKEAWAY ONE · FOR PIFINDER DEVS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Where PFSM could send PRs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DOCS/UPSTREAM_PATCH_INVENTORY.MD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Patches that aren’t PFSM-specific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115568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Test Mode toggle + status readback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a reliable API trigger (keypress sim was flaky).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Camera-process resilience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fall back to the debug camera instead of crashing.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all_ips()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show every network address, not just the default route.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LX200 “no position yet”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return None, not a parseable fake coordinate.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182030"/>
                </a:solidFill>
                <a:latin typeface="Calibri"/>
              </a:rPr>
              <a:t>Near-pole /api/fake_solve RA </a:t>
            </a:r>
            <a:r>
              <a:rPr sz="2100" b="0" i="0">
                <a:solidFill>
                  <a:srgbClr val="182030"/>
                </a:solidFill>
                <a:latin typeface="Calibri"/>
              </a:rPr>
              <a:t>— filed as brickbots/PiFinder#645.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Ready-to-file PR text: docs/upstream_pr_templates.md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Takeaway 1 · PiFinder PRs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CONCRETELY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How to help — PiFinder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Pick one from the inventory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each is already triaged.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PR text is written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in docs/upstream_pr_templates.md, in dependency order.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8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182030"/>
                </a:solidFill>
                <a:latin typeface="Calibri"/>
              </a:rPr>
              <a:t>Mind the caveats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— debug_solve needs an upstream regression fixed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Takeaway 1 · PiFinder PRs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09900" y="120940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221634" y="579012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88292" y="177919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187288" y="56669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08501" y="51993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18073" y="489312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805289" y="635577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714362" y="26340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895058" y="357721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6483" y="337403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96994" y="553468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00106" y="137437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751807" y="28792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8390" y="209108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620433" y="620548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47510" y="490103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868732" y="603825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58383" y="262716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072792" y="88118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0559" y="106545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322892" y="428155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53392" y="638140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59817" y="380872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47555" y="606799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34068" y="507199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984351" y="352582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50159" y="515024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6083" y="55606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1782357" y="136555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085896" y="225411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804532" y="534350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819267" y="615137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58020" y="584905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46362" y="308198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85628" y="78243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13418" y="541803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082739" y="102015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670274" y="206304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957028" y="524757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751537" y="241895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36703" y="222632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354275" y="517106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589668" y="247242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817922" y="382208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1920240"/>
            <a:ext cx="2743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600" b="1" i="0">
                <a:solidFill>
                  <a:srgbClr val="FFB703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TAKEAWAY TWO · FOR STELLARMATE DEVS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3712463"/>
            <a:ext cx="1091153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Extending the SMOS app for PFSM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BASIC USAGE IN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What a thin integration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Start / stop the selected INDI profile.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Add / remove just the PiFinder drivers.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Pick “the mount” from the loaded drivers.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25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2500" b="0" i="0">
                <a:solidFill>
                  <a:srgbClr val="182030"/>
                </a:solidFill>
                <a:latin typeface="Calibri"/>
              </a:rPr>
              <a:t>Three Coupling presets, in PiFinder’s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677B"/>
                </a:solidFill>
                <a:latin typeface="Calibri"/>
              </a:rPr>
              <a:t>The coupling logic is already framework-agnostic Python — a thin adapter ports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Takeaway 2 · SMOS app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155448" cy="155448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530352"/>
            <a:ext cx="1061892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4EA8DE"/>
                </a:solidFill>
                <a:latin typeface="Calibri"/>
              </a:rPr>
              <a:t>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182030"/>
                </a:solidFill>
                <a:latin typeface="Calibri"/>
              </a:rPr>
              <a:t>CC feature → app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82030"/>
                </a:solidFill>
                <a:latin typeface="Calibri"/>
              </a:rPr>
              <a:t>Status badges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946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a read-only status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82030"/>
                </a:solidFill>
                <a:latin typeface="Calibri"/>
              </a:rPr>
              <a:t>Coupling presets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6674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a segmented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9AA6C2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82030"/>
                </a:solidFill>
                <a:latin typeface="Calibri"/>
              </a:rPr>
              <a:t>Quick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6402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5C677B"/>
                </a:solidFill>
                <a:latin typeface="Calibri"/>
              </a:rPr>
              <a:t>buttons on that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APIs: /api/mount_bridge_*, or INDI.</a:t>
            </a:r>
          </a:p>
        </p:txBody>
      </p:sp>
      <p:pic>
        <p:nvPicPr>
          <p:cNvPr id="16" name="Picture 15" descr="cc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35" y="2148840"/>
            <a:ext cx="7452360" cy="3446574"/>
          </a:xfrm>
          <a:prstGeom prst="rect">
            <a:avLst/>
          </a:prstGeom>
          <a:ln w="12700">
            <a:solidFill>
              <a:srgbClr val="D8E0EC"/>
            </a:solidFill>
          </a:ln>
          <a:effectLst>
            <a:outerShdw blurRad="90000" dist="34000" dir="5400000" rotWithShape="0">
              <a:srgbClr val="0B1026">
                <a:alpha val="20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4739335" y="5705543"/>
            <a:ext cx="7452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C677B"/>
                </a:solidFill>
                <a:latin typeface="Calibri"/>
              </a:rPr>
              <a:t>Where each maps from, in the Control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C677B"/>
                </a:solidFill>
                <a:latin typeface="Calibri"/>
              </a:rPr>
              <a:t>Takeaway 2 · SMOS app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54992" y="259492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355519" y="459196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29002" y="605126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117849" y="630202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24530" y="263250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13564" y="640002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010060" y="170415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15325" y="587632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1858" y="466963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711017" y="618726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172283" y="491497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38571" y="522358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62910" y="238653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14476" y="597293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90105" y="263116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795377" y="16957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39195" y="8748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83335" y="516948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806827" y="147399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73122" y="101399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105421" y="390946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12184" y="290301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27256" y="517300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46855" y="127320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13323" y="40840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752026" y="412937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017389" y="498855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2030274" y="93599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932325" y="610290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420195" y="42046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215276" y="3574228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68656" y="70822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447665" y="594204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515471" y="278492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23938" y="263200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054546" y="2991662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779312" y="1912365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797623" y="201276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481559" y="30432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761034" y="341142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406292" y="386369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202128" y="165768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213558" y="643011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38961" y="4531801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4008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Roadmap &amp; where to jump 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178308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1560" y="2057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4EA8DE"/>
                </a:solidFill>
                <a:latin typeface="Calibri"/>
              </a:rPr>
              <a:t>v2.x — consolidate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2697480"/>
            <a:ext cx="475488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Harden &amp; test what exists.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Send selected patches upstream.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4EA8DE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A guiding watcher.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178308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162040"/>
          </a:solidFill>
          <a:ln w="12700">
            <a:solidFill>
              <a:srgbClr val="2C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20840" y="2057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FB703"/>
                </a:solidFill>
                <a:latin typeface="Calibri"/>
              </a:rPr>
              <a:t>v3.x — integrate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2697480"/>
            <a:ext cx="48463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Deeper SMOS integration (#35, #36).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PFSM actions in the PiFinder app (#43).</a:t>
            </a:r>
          </a:p>
          <a:p>
            <a:pPr marL="384048" indent="-384048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FFB703"/>
                </a:solidFill>
                <a:latin typeface="Calibri"/>
              </a:rPr>
              <a:t>▸  </a:t>
            </a:r>
            <a:r>
              <a:rPr sz="1900" b="0" i="0">
                <a:solidFill>
                  <a:srgbClr val="EAEFF8"/>
                </a:solidFill>
                <a:latin typeface="Calibri"/>
              </a:rPr>
              <a:t>A “real” GSC-solving simulator (#344).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4EA8DE"/>
                </a:solidFill>
                <a:latin typeface="Calibri"/>
              </a:rPr>
              <a:t>github.com/apos/PiFinder_Stellarmate</a:t>
            </a:r>
            <a:r>
              <a:rPr sz="1400" b="0" i="0">
                <a:solidFill>
                  <a:srgbClr val="9AA6C2"/>
                </a:solidFill>
                <a:latin typeface="Calibri"/>
              </a:rPr>
              <a:t>   ·   GitHub Project #15   ·   CHANGELOG.md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83484" y="87715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15784" y="422024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515483" y="48215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93795" y="501339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59" y="165910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73175" y="285338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46803" y="27124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07339" y="149292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85747" y="642531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65034" y="287819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60510" y="641629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73835" y="147929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9087" y="497646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97167" y="1574766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34678" y="141315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895373" y="331111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41517" y="2338365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79237" y="4421541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593612" y="656566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50069" y="215382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809532" y="629923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53743" y="127994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13266" y="4096516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542366" y="4545417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983082" y="441214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495680" y="147101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436538" y="533112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46151" y="1899560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559132" y="1415099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071938" y="6655949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806094" y="3416804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450208" y="258892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79714" y="4026040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922123" y="5386327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394952" y="6544097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173159" y="5176962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292683" y="210808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081266" y="3072443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711974" y="387120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32887" y="4179216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539041" y="636969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351925" y="3787763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418955" y="3589529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920778" y="3587271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460800" y="216808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021700" y="258348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469867" y="5040993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361673" y="3954008"/>
            <a:ext cx="18288" cy="1828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37780" y="4535475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200537" y="1063024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653938" y="1485672"/>
            <a:ext cx="41148" cy="41148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795357" y="4003720"/>
            <a:ext cx="27432" cy="27432"/>
          </a:xfrm>
          <a:prstGeom prst="ellipse">
            <a:avLst/>
          </a:prstGeom>
          <a:solidFill>
            <a:srgbClr val="3A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PiFinder-Stellarmate_Wortmarke_Negativ_fuer-dunklen-h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87" y="1965960"/>
            <a:ext cx="6217920" cy="117158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40080" y="361188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9AA6C2"/>
                </a:solidFill>
                <a:latin typeface="Calibri"/>
              </a:rPr>
              <a:t>© github.com/apos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06908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C677B"/>
                </a:solidFill>
                <a:latin typeface="Calibri"/>
              </a:rPr>
              <a:t>Unofficial community project — not affiliated with StellarMate or PiFinder.</a:t>
            </a:r>
          </a:p>
        </p:txBody>
      </p:sp>
      <p:pic>
        <p:nvPicPr>
          <p:cNvPr id="58" name="Picture 57" descr="HeyApos_Wortmarke_logo_thu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527" y="5074920"/>
            <a:ext cx="1869439" cy="1051559"/>
          </a:xfrm>
          <a:prstGeom prst="rect">
            <a:avLst/>
          </a:prstGeom>
        </p:spPr>
      </p:pic>
      <p:pic>
        <p:nvPicPr>
          <p:cNvPr id="59" name="Picture 58" descr="avvp_2019_logo_wortmarke_ne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7" y="5230368"/>
            <a:ext cx="2103120" cy="52254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40080" y="6355080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6C2"/>
                </a:solidFill>
                <a:latin typeface="Calibri"/>
              </a:rPr>
              <a:t>youtube.com/heyapos   ·   avvp.de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1f44385-be75-4dc2-abf7-73a8d0466140}" enabled="1" method="Standard" siteId="{008ae55d-17d4-45aa-b610-52181f8f0f6c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Microsoft Macintosh PowerPoint</Application>
  <PresentationFormat>Breitbild</PresentationFormat>
  <Paragraphs>232</Paragraphs>
  <Slides>31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5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POSPISCHIL Axel</cp:lastModifiedBy>
  <cp:revision>2</cp:revision>
  <dcterms:created xsi:type="dcterms:W3CDTF">2013-01-27T09:14:16Z</dcterms:created>
  <dcterms:modified xsi:type="dcterms:W3CDTF">2026-09-10T15:39:06Z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Klassifizierung: Vertraulich/Confidential</vt:lpwstr>
  </property>
</Properties>
</file>